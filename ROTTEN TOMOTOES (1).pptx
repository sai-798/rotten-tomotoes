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57" r:id="rId2"/>
    <p:sldId id="284" r:id="rId3"/>
    <p:sldId id="287" r:id="rId4"/>
    <p:sldId id="285" r:id="rId5"/>
    <p:sldId id="286" r:id="rId6"/>
    <p:sldId id="262" r:id="rId7"/>
    <p:sldId id="288" r:id="rId8"/>
    <p:sldId id="299" r:id="rId9"/>
    <p:sldId id="298" r:id="rId10"/>
    <p:sldId id="289" r:id="rId11"/>
    <p:sldId id="290" r:id="rId12"/>
    <p:sldId id="293" r:id="rId13"/>
    <p:sldId id="294" r:id="rId14"/>
    <p:sldId id="295" r:id="rId15"/>
    <p:sldId id="296" r:id="rId16"/>
    <p:sldId id="297" r:id="rId17"/>
    <p:sldId id="271" r:id="rId18"/>
    <p:sldId id="263" r:id="rId19"/>
    <p:sldId id="265" r:id="rId20"/>
    <p:sldId id="259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3618394-0D95-4DEC-8738-051E75E5AB34}" v="760" dt="2026-08-01T04:42:46.58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0B0BE8-8B1B-4897-9C7A-966B95778B53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1D8D82-C080-40DC-83F4-5543830B4F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53304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96" name="Google Shape;9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83C6250E-DCD6-00C9-5B5C-DF1A63A198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44E1A9D9-0DEF-1AD1-5B54-456F8BEF832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A101BE97-ACFE-6BA1-1CCB-942026C1C55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2954458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1D8D82-C080-40DC-83F4-5543830B4F95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09964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14" name="Google Shape;11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D9FB8-D554-F0AB-2933-DB206F7E8A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BC0863-6453-5546-C2CA-67A6AABAB7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1E5718-1F99-98EB-D29F-B3FA5B26C9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09711-4E80-483B-BF1C-540F4D700FD3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4AE146-7F44-0D67-3107-7D9D5EABAC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FE6E7C-B0A8-90E5-754B-3ED031F7AE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E6E07-4B1A-45AB-A4F3-52D2DC39A1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97304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E9E763-2DA5-5AC5-0403-39AFBB2DEF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FC7E0F-0620-5B40-4523-CBB9C0760E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5B899E-F78E-7846-D6A9-27C710D4B7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09711-4E80-483B-BF1C-540F4D700FD3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8A80D1-2DBA-F136-E324-3EC1BD10C2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895DAB-855F-B1B5-A72E-C43431AE66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E6E07-4B1A-45AB-A4F3-52D2DC39A1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09039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B0EFE4-69B1-5F8E-6067-DCCA757B62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52F64-9CC7-97F5-31FE-E0E84DEAB2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258809-1393-4326-AA44-727E22E50A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09711-4E80-483B-BF1C-540F4D700FD3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740200-D17A-ADB2-FC39-DB876860B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9C5D70-671F-F23B-3F3E-EBEEEBFFE9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E6E07-4B1A-45AB-A4F3-52D2DC39A1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22063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56EC7-78C3-D47E-0EE9-5CA7E04C64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792B01-859C-24D5-2B1E-6B3997E919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8D788A-3E98-31EF-1D74-C7D22ADE70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8A2F25-CFF2-326B-E1A1-8F3BB0EB5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09711-4E80-483B-BF1C-540F4D700FD3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428B0A-59B2-F8F4-28D0-49161F520D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E51B54-358D-7C59-850E-4EBD81DFC5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E6E07-4B1A-45AB-A4F3-52D2DC39A1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57907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FE5965-CB28-4C37-61AC-5F8938C58A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293DC2-7B51-81D8-702B-91AC2C9C7C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FE698D-B4F3-1EA9-DC2D-D99169490C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0524508-2D78-4064-4B2C-8F945D70D5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9E0A8A9-0E48-63C9-E0AC-535ED261BC6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7319621-40D5-67BD-3F71-2111F33364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09711-4E80-483B-BF1C-540F4D700FD3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24C2CA6-2F55-5783-528F-97E38D26D4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DABFEB9-9717-0F56-E559-4907C0E716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E6E07-4B1A-45AB-A4F3-52D2DC39A1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5467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7DAC4F-6ED7-BBA4-8EFD-DEC350F631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3716B6E-9D06-0BCA-55D9-4C26FEFE1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09711-4E80-483B-BF1C-540F4D700FD3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591C6BA-EDEB-F068-565E-5BFFEC1A3F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D970CF-E0D1-F8A8-4796-79C2A1D53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E6E07-4B1A-45AB-A4F3-52D2DC39A1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01941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15A05D5-199F-2F88-0F29-BA25D6AD75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09711-4E80-483B-BF1C-540F4D700FD3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234E82F-A84C-3210-1702-3AA9C7AEB2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755F8C-668E-056B-272F-E41B4AF084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E6E07-4B1A-45AB-A4F3-52D2DC39A1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59494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E465A8-9AEC-904A-1727-BD98844986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54755A-C369-42BF-50A3-A014A291BF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3E8A56-2FF7-E3D9-9E92-6702FC48FD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14EF79-A98C-4152-88CF-B3F58D1390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09711-4E80-483B-BF1C-540F4D700FD3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7661CE-7E82-8A9D-3E1C-636E10A83D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280181-4810-E86C-2D6B-86F65F915A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E6E07-4B1A-45AB-A4F3-52D2DC39A1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42902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4A125F-3F3E-E0E4-F11A-3CCD1365B5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5DC80FE-D404-A411-CE0F-933EF4FCE96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FB81DE-137F-4E3A-DD14-3F5F47D307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81A96E-99D4-2D27-C8C9-A428AC7127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09711-4E80-483B-BF1C-540F4D700FD3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1E5DBD-4DB1-FB3C-A7E4-7600C3E9A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AF3054-E00B-FED9-EF83-1AAF516872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E6E07-4B1A-45AB-A4F3-52D2DC39A1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54386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ED8199-FD27-AD07-D11F-F85C434DC5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F364B69-C64C-3E4E-96F0-56BEACA756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B580AD-C657-181C-DB88-166AEB1493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09711-4E80-483B-BF1C-540F4D700FD3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FE1B20-F811-589A-E2AF-68E272E966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3E19AC-F5F9-6266-A195-ACBA2600EB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E6E07-4B1A-45AB-A4F3-52D2DC39A1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66369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5C03392-430F-D321-FC30-BE5A148D78C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F1E098-21BE-673C-AB14-98FF64D355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EF230E-4A34-577F-0D0F-3125317872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09711-4E80-483B-BF1C-540F4D700FD3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6D9295-2C65-C912-AB9E-97722D5A21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77534B-67CA-0ED1-E829-9A8B421452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E6E07-4B1A-45AB-A4F3-52D2DC39A1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19182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01545DF-8801-772C-EAAA-E023918F34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C99FA5-1204-9478-2F42-D26A24F3EB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7F0A05-C5A4-309D-E765-5AC456CB0B8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309711-4E80-483B-BF1C-540F4D700FD3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E84BE2-7B7C-30EB-9A8E-7D73C1D692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35377E-8777-9B9A-04D0-4C53C3C442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2E6E07-4B1A-45AB-A4F3-52D2DC39A1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91960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sai-lakshmi-rajulapati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hyperlink" Target="https://github.com/SAI-798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0" y="81951"/>
            <a:ext cx="12190815" cy="669409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"/>
          <p:cNvSpPr txBox="1"/>
          <p:nvPr/>
        </p:nvSpPr>
        <p:spPr>
          <a:xfrm>
            <a:off x="2472904" y="3717986"/>
            <a:ext cx="7246189" cy="954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n-IN" sz="2800" b="1" dirty="0">
                <a:latin typeface="HGPMinchoE"/>
                <a:ea typeface="HGPMinchoE"/>
                <a:cs typeface="+mn-lt"/>
              </a:rPr>
              <a:t>Tomato Trail:  </a:t>
            </a:r>
            <a:r>
              <a:rPr lang="en-IN" sz="2800" b="1">
                <a:latin typeface="HGPMinchoE"/>
                <a:ea typeface="HGPMinchoE"/>
                <a:cs typeface="+mn-lt"/>
              </a:rPr>
              <a:t>Rotten Tomatoes</a:t>
            </a:r>
            <a:r>
              <a:rPr lang="en-IN" sz="2800" b="1" dirty="0">
                <a:latin typeface="HGPMinchoE"/>
                <a:ea typeface="HGPMinchoE"/>
                <a:cs typeface="+mn-lt"/>
              </a:rPr>
              <a:t> Movie Data Analysis</a:t>
            </a:r>
            <a:endParaRPr lang="en-US" b="1" dirty="0">
              <a:latin typeface="HGPMinchoE"/>
              <a:ea typeface="HGPMinchoE"/>
              <a:cs typeface="+mn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9C7C855-93C5-5C5E-6B07-82856750C0EE}"/>
              </a:ext>
            </a:extLst>
          </p:cNvPr>
          <p:cNvSpPr txBox="1"/>
          <p:nvPr/>
        </p:nvSpPr>
        <p:spPr>
          <a:xfrm>
            <a:off x="9281652" y="5073876"/>
            <a:ext cx="4650658" cy="101566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000" b="1">
                <a:solidFill>
                  <a:srgbClr val="EE424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Presented By:</a:t>
            </a:r>
          </a:p>
          <a:p>
            <a:r>
              <a:rPr lang="en-IN" sz="2000" b="1">
                <a:latin typeface="Calibri"/>
                <a:ea typeface="Calibri"/>
                <a:cs typeface="Calibri"/>
              </a:rPr>
              <a:t>Sai Lakshmi Rajulapati</a:t>
            </a:r>
          </a:p>
          <a:p>
            <a:r>
              <a:rPr lang="en-IN" sz="2000" b="1">
                <a:latin typeface="Calibri"/>
                <a:ea typeface="Calibri"/>
                <a:cs typeface="Calibri"/>
              </a:rPr>
              <a:t>Batch No: 522</a:t>
            </a:r>
            <a:endParaRPr lang="en-IN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"/>
          <p:cNvSpPr txBox="1"/>
          <p:nvPr/>
        </p:nvSpPr>
        <p:spPr>
          <a:xfrm>
            <a:off x="737812" y="1299172"/>
            <a:ext cx="10982240" cy="4524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indent="-285750"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IN" sz="2400" b="1">
                <a:latin typeface="Times New Roman"/>
                <a:ea typeface="+mn-lt"/>
                <a:cs typeface="Times New Roman"/>
              </a:rPr>
              <a:t>Background: </a:t>
            </a:r>
            <a:r>
              <a:rPr lang="en-IN" sz="2400">
                <a:latin typeface="Times New Roman"/>
                <a:ea typeface="+mn-lt"/>
                <a:cs typeface="Times New Roman"/>
              </a:rPr>
              <a:t>I recently completed my </a:t>
            </a:r>
            <a:r>
              <a:rPr lang="en-IN" sz="2400" err="1">
                <a:latin typeface="Times New Roman"/>
                <a:ea typeface="+mn-lt"/>
                <a:cs typeface="Times New Roman"/>
              </a:rPr>
              <a:t>B.Tech</a:t>
            </a:r>
            <a:r>
              <a:rPr lang="en-IN" sz="2400">
                <a:latin typeface="Times New Roman"/>
                <a:ea typeface="+mn-lt"/>
                <a:cs typeface="Times New Roman"/>
              </a:rPr>
              <a:t> in Computer Science Engineering (Data Science) from Sreyas Institute of Engineering and Technology. Throughout my studies, I developed a strong interest in Data Analytics and its applications in </a:t>
            </a:r>
            <a:r>
              <a:rPr lang="en-IN" sz="2400" b="1">
                <a:latin typeface="Times New Roman"/>
                <a:ea typeface="+mn-lt"/>
                <a:cs typeface="Times New Roman"/>
              </a:rPr>
              <a:t>data-driven decision-making</a:t>
            </a:r>
            <a:endParaRPr lang="en-US" sz="2400">
              <a:latin typeface="Times New Roman"/>
              <a:ea typeface="+mn-lt"/>
              <a:cs typeface="Times New Roman"/>
            </a:endParaRPr>
          </a:p>
          <a:p>
            <a:pPr marL="285750" lvl="0" indent="-285750">
              <a:buClr>
                <a:srgbClr val="000000"/>
              </a:buClr>
              <a:buSzPts val="2400"/>
              <a:buFont typeface="Arial"/>
              <a:buChar char="•"/>
            </a:pPr>
            <a:endParaRPr lang="en-IN" sz="2400">
              <a:latin typeface="Times New Roman"/>
              <a:ea typeface="+mn-lt"/>
              <a:cs typeface="Times New Roman"/>
            </a:endParaRPr>
          </a:p>
          <a:p>
            <a:pPr marL="285750" indent="-285750"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IN" sz="2300" b="1">
                <a:latin typeface="Times New Roman"/>
                <a:ea typeface="+mn-lt"/>
                <a:cs typeface="Times New Roman"/>
                <a:sym typeface="Calibri"/>
              </a:rPr>
              <a:t>Name: </a:t>
            </a:r>
            <a:r>
              <a:rPr lang="en-IN" sz="2300">
                <a:latin typeface="Times New Roman"/>
                <a:ea typeface="+mn-lt"/>
                <a:cs typeface="Times New Roman"/>
                <a:sym typeface="Calibri"/>
              </a:rPr>
              <a:t>SAI LAKSHMI</a:t>
            </a:r>
            <a:endParaRPr lang="en-IN" sz="2300">
              <a:latin typeface="Times New Roman"/>
              <a:ea typeface="+mn-lt"/>
              <a:cs typeface="Times New Roman"/>
            </a:endParaRPr>
          </a:p>
          <a:p>
            <a:pPr marL="285750" indent="-285750"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IN" sz="2300" b="1">
                <a:latin typeface="Times New Roman"/>
                <a:ea typeface="+mn-lt"/>
                <a:cs typeface="Times New Roman"/>
                <a:sym typeface="Calibri"/>
              </a:rPr>
              <a:t>Roll Number:</a:t>
            </a:r>
            <a:r>
              <a:rPr lang="en-IN" sz="2300">
                <a:latin typeface="Times New Roman"/>
                <a:ea typeface="+mn-lt"/>
                <a:cs typeface="Times New Roman"/>
                <a:sym typeface="Calibri"/>
              </a:rPr>
              <a:t> 81020204926 </a:t>
            </a:r>
            <a:endParaRPr lang="en-US" sz="2300">
              <a:latin typeface="Times New Roman"/>
              <a:ea typeface="+mn-lt"/>
              <a:cs typeface="Times New Roman"/>
            </a:endParaRPr>
          </a:p>
          <a:p>
            <a:pPr marL="285750" indent="-285750"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IN" sz="2300" b="1">
                <a:latin typeface="Times New Roman"/>
                <a:ea typeface="+mn-lt"/>
                <a:cs typeface="Times New Roman"/>
                <a:sym typeface="Calibri"/>
              </a:rPr>
              <a:t>Batch Number:</a:t>
            </a:r>
            <a:r>
              <a:rPr lang="en-IN" sz="2300">
                <a:latin typeface="Times New Roman"/>
                <a:ea typeface="+mn-lt"/>
                <a:cs typeface="Times New Roman"/>
                <a:sym typeface="Calibri"/>
              </a:rPr>
              <a:t> 522</a:t>
            </a:r>
            <a:endParaRPr lang="en-US" sz="2300">
              <a:latin typeface="Times New Roman"/>
              <a:ea typeface="+mn-lt"/>
              <a:cs typeface="Times New Roman"/>
            </a:endParaRPr>
          </a:p>
          <a:p>
            <a:pPr marL="285750" indent="-285750"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IN" sz="2300" b="1">
                <a:latin typeface="Times New Roman"/>
                <a:ea typeface="+mn-lt"/>
                <a:cs typeface="Times New Roman"/>
                <a:sym typeface="Calibri"/>
              </a:rPr>
              <a:t>LinkedIn:</a:t>
            </a:r>
            <a:r>
              <a:rPr lang="en-IN" sz="2300">
                <a:latin typeface="Times New Roman"/>
                <a:ea typeface="+mn-lt"/>
                <a:cs typeface="Times New Roman"/>
                <a:sym typeface="Calibri"/>
              </a:rPr>
              <a:t> </a:t>
            </a:r>
            <a:r>
              <a:rPr lang="en-IN" sz="2300">
                <a:solidFill>
                  <a:schemeClr val="dk1"/>
                </a:solidFill>
                <a:latin typeface="Times New Roman"/>
                <a:ea typeface="+mn-lt"/>
                <a:cs typeface="Times New Roman"/>
                <a:sym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https://www.linkedin.com/in/sai-lakshmi-rajulapati/</a:t>
            </a:r>
            <a:endParaRPr lang="en-IN" sz="2300">
              <a:solidFill>
                <a:schemeClr val="dk1"/>
              </a:solidFill>
              <a:latin typeface="Times New Roman"/>
              <a:ea typeface="+mn-lt"/>
              <a:cs typeface="Times New Roman"/>
            </a:endParaRPr>
          </a:p>
          <a:p>
            <a:pPr marL="285750" indent="-285750"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IN" sz="2300" b="1">
                <a:latin typeface="Times New Roman"/>
                <a:ea typeface="+mn-lt"/>
                <a:cs typeface="Times New Roman"/>
                <a:sym typeface="Calibri"/>
              </a:rPr>
              <a:t>GitHub:</a:t>
            </a:r>
            <a:r>
              <a:rPr lang="en-IN" sz="2300">
                <a:latin typeface="Times New Roman"/>
                <a:ea typeface="+mn-lt"/>
                <a:cs typeface="Times New Roman"/>
                <a:sym typeface="Calibri"/>
              </a:rPr>
              <a:t> </a:t>
            </a:r>
            <a:r>
              <a:rPr lang="en-IN" sz="2300">
                <a:solidFill>
                  <a:schemeClr val="dk1"/>
                </a:solidFill>
                <a:latin typeface="Times New Roman"/>
                <a:ea typeface="+mn-lt"/>
                <a:cs typeface="Times New Roman"/>
                <a:sym typeface="Calibri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https://github.com/SAI-798</a:t>
            </a:r>
            <a:endParaRPr lang="en-IN" sz="2300">
              <a:solidFill>
                <a:schemeClr val="dk1"/>
              </a:solidFill>
              <a:latin typeface="Times New Roman"/>
              <a:ea typeface="+mn-lt"/>
              <a:cs typeface="Times New Roman"/>
            </a:endParaRPr>
          </a:p>
          <a:p>
            <a:pPr lvl="0">
              <a:buClr>
                <a:srgbClr val="000000"/>
              </a:buClr>
              <a:buSzPts val="2400"/>
            </a:pPr>
            <a:endParaRPr lang="en-IN" sz="23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lvl="0">
              <a:buClr>
                <a:schemeClr val="dk1"/>
              </a:buClr>
              <a:buSzPts val="2400"/>
            </a:pPr>
            <a:endParaRPr lang="en-US" sz="2400">
              <a:latin typeface="Times New Roman" panose="02020603050405020304" pitchFamily="18" charset="0"/>
              <a:ea typeface="Lato Black" panose="020F0502020204030203" pitchFamily="34" charset="0"/>
              <a:cs typeface="Times New Roman" panose="02020603050405020304" pitchFamily="18" charset="0"/>
            </a:endParaRPr>
          </a:p>
        </p:txBody>
      </p:sp>
      <p:sp>
        <p:nvSpPr>
          <p:cNvPr id="105" name="Google Shape;105;p3"/>
          <p:cNvSpPr txBox="1"/>
          <p:nvPr/>
        </p:nvSpPr>
        <p:spPr>
          <a:xfrm>
            <a:off x="427656" y="416554"/>
            <a:ext cx="6099600" cy="4862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Lato Black"/>
              <a:buNone/>
            </a:pPr>
            <a:r>
              <a:rPr lang="en-IN" sz="3200" b="0" i="0" u="sng" strike="noStrike" cap="none">
                <a:solidFill>
                  <a:srgbClr val="FF0000"/>
                </a:solidFill>
                <a:latin typeface="Lato Black"/>
                <a:ea typeface="Lato Black"/>
                <a:cs typeface="Lato Black"/>
                <a:sym typeface="Lato Black"/>
              </a:rPr>
              <a:t>About me </a:t>
            </a:r>
            <a:endParaRPr sz="1800" b="0" i="0" u="sng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641AC08-9960-B843-765F-86ED7C441B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72526" y="6226044"/>
            <a:ext cx="2852737" cy="47632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10;p4">
            <a:extLst>
              <a:ext uri="{FF2B5EF4-FFF2-40B4-BE49-F238E27FC236}">
                <a16:creationId xmlns:a16="http://schemas.microsoft.com/office/drawing/2014/main" id="{6A70BC08-4E83-3E99-ACF9-4D6EC436A6DE}"/>
              </a:ext>
            </a:extLst>
          </p:cNvPr>
          <p:cNvSpPr txBox="1">
            <a:spLocks/>
          </p:cNvSpPr>
          <p:nvPr/>
        </p:nvSpPr>
        <p:spPr>
          <a:xfrm>
            <a:off x="491808" y="262954"/>
            <a:ext cx="4733335" cy="7907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  <a:buClr>
                <a:srgbClr val="FF0000"/>
              </a:buClr>
              <a:buSzPts val="4400"/>
              <a:buFont typeface="Calibri"/>
              <a:buNone/>
            </a:pPr>
            <a:r>
              <a:rPr lang="en-IN" sz="4000" b="1" u="sng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Agenda</a:t>
            </a:r>
          </a:p>
        </p:txBody>
      </p:sp>
      <p:sp>
        <p:nvSpPr>
          <p:cNvPr id="5" name="Google Shape;111;p4">
            <a:extLst>
              <a:ext uri="{FF2B5EF4-FFF2-40B4-BE49-F238E27FC236}">
                <a16:creationId xmlns:a16="http://schemas.microsoft.com/office/drawing/2014/main" id="{E1FBC58A-9800-247B-0811-46C8CA127D50}"/>
              </a:ext>
            </a:extLst>
          </p:cNvPr>
          <p:cNvSpPr txBox="1">
            <a:spLocks/>
          </p:cNvSpPr>
          <p:nvPr/>
        </p:nvSpPr>
        <p:spPr>
          <a:xfrm>
            <a:off x="789382" y="1053737"/>
            <a:ext cx="7983143" cy="5076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/>
              <a:t>Business Problem</a:t>
            </a:r>
          </a:p>
          <a:p>
            <a:r>
              <a:rPr lang="en-US" sz="2000" b="1"/>
              <a:t>Problems Statement</a:t>
            </a:r>
          </a:p>
          <a:p>
            <a:r>
              <a:rPr lang="en-US" sz="2000" b="1"/>
              <a:t>Objective</a:t>
            </a:r>
          </a:p>
          <a:p>
            <a:r>
              <a:rPr lang="en-US" sz="2000" b="1"/>
              <a:t>Dataset Description</a:t>
            </a:r>
          </a:p>
          <a:p>
            <a:r>
              <a:rPr lang="en-US" sz="2000" b="1"/>
              <a:t>Columns Description</a:t>
            </a:r>
          </a:p>
          <a:p>
            <a:r>
              <a:rPr lang="en-US" sz="2000" b="1"/>
              <a:t>EDA Overview</a:t>
            </a:r>
          </a:p>
          <a:p>
            <a:r>
              <a:rPr lang="en-US" sz="2000" b="1"/>
              <a:t>EDA Analysis</a:t>
            </a:r>
          </a:p>
          <a:p>
            <a:r>
              <a:rPr lang="en-US" sz="2000" b="1"/>
              <a:t>Key Insights</a:t>
            </a:r>
          </a:p>
          <a:p>
            <a:r>
              <a:rPr lang="en-US" sz="2000" b="1"/>
              <a:t>Conclusion</a:t>
            </a:r>
            <a:endParaRPr lang="en-US" sz="2000" b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b="1"/>
              <a:t>Questions &amp; Answers</a:t>
            </a:r>
            <a:endParaRPr lang="en-US" sz="2000" b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98C7B6A-1312-B31E-20B9-D689909D34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2526" y="6226044"/>
            <a:ext cx="2852737" cy="476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10618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"/>
          <p:cNvSpPr txBox="1"/>
          <p:nvPr/>
        </p:nvSpPr>
        <p:spPr>
          <a:xfrm>
            <a:off x="688650" y="1397495"/>
            <a:ext cx="10744224" cy="50782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indent="-457200">
              <a:buFont typeface="Wingdings"/>
              <a:buChar char="q"/>
            </a:pPr>
            <a:r>
              <a:rPr lang="en-IN" sz="3200" b="1">
                <a:latin typeface="Calibri Light"/>
                <a:ea typeface="Calibri Light"/>
                <a:cs typeface="Calibri Light"/>
              </a:rPr>
              <a:t>High Industry Reliance:</a:t>
            </a:r>
            <a:r>
              <a:rPr lang="en-IN" sz="3200">
                <a:latin typeface="Calibri Light"/>
                <a:ea typeface="Calibri Light"/>
                <a:cs typeface="Calibri Light"/>
              </a:rPr>
              <a:t> Platforms depend on aggregated critic &amp; audience ratings to curate content and predict viewing trends.</a:t>
            </a:r>
            <a:endParaRPr lang="en-US" sz="3200">
              <a:latin typeface="Calibri Light"/>
              <a:ea typeface="Calibri Light"/>
              <a:cs typeface="Calibri Light"/>
            </a:endParaRPr>
          </a:p>
          <a:p>
            <a:pPr marL="457200" indent="-457200">
              <a:buFont typeface="Wingdings"/>
              <a:buChar char="q"/>
            </a:pPr>
            <a:r>
              <a:rPr lang="en-IN" sz="3200" b="1">
                <a:latin typeface="Calibri Light"/>
                <a:ea typeface="Calibri Light"/>
                <a:cs typeface="Calibri Light"/>
              </a:rPr>
              <a:t>Data Accessibility Bottleneck:</a:t>
            </a:r>
            <a:r>
              <a:rPr lang="en-IN" sz="3200">
                <a:latin typeface="Calibri Light"/>
                <a:ea typeface="Calibri Light"/>
                <a:cs typeface="Calibri Light"/>
              </a:rPr>
              <a:t> Raw ratings and metadata are locked behind web structures, preventing real-time, automated analysis.</a:t>
            </a:r>
          </a:p>
          <a:p>
            <a:pPr marL="457200" indent="-457200">
              <a:buFont typeface="Wingdings"/>
              <a:buChar char="q"/>
            </a:pPr>
            <a:r>
              <a:rPr lang="en-IN" sz="3200" b="1">
                <a:latin typeface="Calibri Light"/>
                <a:ea typeface="Calibri Light"/>
                <a:cs typeface="Calibri Light"/>
              </a:rPr>
              <a:t>Missed Opportunity:</a:t>
            </a:r>
            <a:r>
              <a:rPr lang="en-IN" sz="3200">
                <a:latin typeface="Calibri Light"/>
                <a:ea typeface="Calibri Light"/>
                <a:cs typeface="Calibri Light"/>
              </a:rPr>
              <a:t> Without clean, automated </a:t>
            </a:r>
            <a:r>
              <a:rPr lang="en-IN" sz="3200">
                <a:effectLst/>
                <a:latin typeface="Calibri Light"/>
                <a:ea typeface="Calibri Light"/>
                <a:cs typeface="Calibri Light"/>
              </a:rPr>
              <a:t>data </a:t>
            </a:r>
            <a:r>
              <a:rPr lang="en-IN" sz="3200">
                <a:latin typeface="Calibri Light"/>
                <a:ea typeface="Calibri Light"/>
                <a:cs typeface="Calibri Light"/>
              </a:rPr>
              <a:t>feeds, media companies lose valuable market intelligence on audience preferences.</a:t>
            </a:r>
          </a:p>
          <a:p>
            <a:pPr marL="342900" indent="-3429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endParaRPr lang="en-IN" sz="2400">
              <a:latin typeface="Calibri" panose="020F0502020204030204"/>
              <a:ea typeface="Calibri"/>
              <a:cs typeface="Calibri"/>
            </a:endParaRPr>
          </a:p>
        </p:txBody>
      </p:sp>
      <p:sp>
        <p:nvSpPr>
          <p:cNvPr id="105" name="Google Shape;105;p3"/>
          <p:cNvSpPr txBox="1"/>
          <p:nvPr/>
        </p:nvSpPr>
        <p:spPr>
          <a:xfrm>
            <a:off x="688650" y="642696"/>
            <a:ext cx="6099463" cy="4862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lnSpc>
                <a:spcPct val="80000"/>
              </a:lnSpc>
              <a:buClr>
                <a:srgbClr val="FF0000"/>
              </a:buClr>
              <a:buSzPts val="3200"/>
            </a:pPr>
            <a:r>
              <a:rPr lang="en-IN" sz="3200" b="1" u="sng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BUSINESS PROBLEM</a:t>
            </a:r>
            <a:endParaRPr sz="3200" b="1" u="sng" strike="noStrike" cap="none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386A568-0F14-9BFC-E614-6DE008DEB0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2526" y="6226044"/>
            <a:ext cx="2852737" cy="47632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7E158C30-482F-96D7-75C0-C2093DCE47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">
            <a:extLst>
              <a:ext uri="{FF2B5EF4-FFF2-40B4-BE49-F238E27FC236}">
                <a16:creationId xmlns:a16="http://schemas.microsoft.com/office/drawing/2014/main" id="{7A0703F7-F364-E889-E4FE-BBC324C1250F}"/>
              </a:ext>
            </a:extLst>
          </p:cNvPr>
          <p:cNvSpPr txBox="1"/>
          <p:nvPr/>
        </p:nvSpPr>
        <p:spPr>
          <a:xfrm>
            <a:off x="961820" y="1526891"/>
            <a:ext cx="10284149" cy="446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indent="-457200">
              <a:buFont typeface="Wingdings" panose="020B0604020202020204" pitchFamily="34" charset="0"/>
              <a:buChar char="q"/>
            </a:pPr>
            <a:r>
              <a:rPr lang="en-IN" sz="3200" b="1">
                <a:latin typeface="Calibri Light"/>
                <a:ea typeface="Calibri Light"/>
                <a:cs typeface="Calibri Light"/>
              </a:rPr>
              <a:t>The Gap:</a:t>
            </a:r>
            <a:r>
              <a:rPr lang="en-IN" sz="3200">
                <a:latin typeface="Calibri Light"/>
                <a:ea typeface="Calibri Light"/>
                <a:cs typeface="Calibri Light"/>
              </a:rPr>
              <a:t> Manual or legacy scraping tools fail to extract complete metadata from modern dynamic web pages (Shadow DOM, lazy loading).</a:t>
            </a:r>
            <a:endParaRPr lang="en-US" sz="3200">
              <a:latin typeface="Calibri Light"/>
              <a:ea typeface="Calibri Light"/>
              <a:cs typeface="Calibri Light"/>
            </a:endParaRPr>
          </a:p>
          <a:p>
            <a:pPr marL="457200" indent="-457200">
              <a:buFont typeface="Wingdings" panose="020B0604020202020204" pitchFamily="34" charset="0"/>
              <a:buChar char="q"/>
            </a:pPr>
            <a:r>
              <a:rPr lang="en-IN" sz="3200" b="1">
                <a:latin typeface="Calibri Light"/>
                <a:ea typeface="Calibri Light"/>
                <a:cs typeface="Calibri Light"/>
              </a:rPr>
              <a:t>The Goal:</a:t>
            </a:r>
            <a:r>
              <a:rPr lang="en-IN" sz="3200">
                <a:latin typeface="Calibri Light"/>
                <a:ea typeface="Calibri Light"/>
                <a:cs typeface="Calibri Light"/>
              </a:rPr>
              <a:t> Build an automated end-to-end extraction pipeline to collect, clean, and structure Rotten Tomatoes metadata at scale.</a:t>
            </a:r>
          </a:p>
          <a:p>
            <a:pPr marL="457200" indent="-457200">
              <a:buFont typeface="Wingdings" panose="020B0604020202020204" pitchFamily="34" charset="0"/>
              <a:buChar char="q"/>
            </a:pPr>
            <a:r>
              <a:rPr lang="en-IN" sz="3200" b="1">
                <a:latin typeface="Calibri Light"/>
                <a:ea typeface="Calibri Light"/>
                <a:cs typeface="Calibri Light"/>
              </a:rPr>
              <a:t>The Impact:</a:t>
            </a:r>
            <a:r>
              <a:rPr lang="en-IN" sz="3200">
                <a:latin typeface="Calibri Light"/>
                <a:ea typeface="Calibri Light"/>
                <a:cs typeface="Calibri Light"/>
              </a:rPr>
              <a:t> Deliver a standardized, analytics-ready dataset that enables seamless rating trend analysis.</a:t>
            </a:r>
          </a:p>
          <a:p>
            <a:endParaRPr lang="en-IN" sz="2800">
              <a:latin typeface="Calibri Light"/>
              <a:ea typeface="Calibri Light"/>
              <a:cs typeface="Calibri Light"/>
            </a:endParaRPr>
          </a:p>
        </p:txBody>
      </p:sp>
      <p:sp>
        <p:nvSpPr>
          <p:cNvPr id="105" name="Google Shape;105;p3">
            <a:extLst>
              <a:ext uri="{FF2B5EF4-FFF2-40B4-BE49-F238E27FC236}">
                <a16:creationId xmlns:a16="http://schemas.microsoft.com/office/drawing/2014/main" id="{1E1029B2-095D-188E-7B2D-A690DCF7624B}"/>
              </a:ext>
            </a:extLst>
          </p:cNvPr>
          <p:cNvSpPr txBox="1"/>
          <p:nvPr/>
        </p:nvSpPr>
        <p:spPr>
          <a:xfrm>
            <a:off x="688650" y="642696"/>
            <a:ext cx="6099463" cy="4862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lnSpc>
                <a:spcPct val="80000"/>
              </a:lnSpc>
              <a:buClr>
                <a:srgbClr val="FF0000"/>
              </a:buClr>
              <a:buSzPts val="3200"/>
            </a:pPr>
            <a:r>
              <a:rPr lang="en-IN" sz="3200" b="1" u="sng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PROBLEM STATEMENT</a:t>
            </a:r>
            <a:endParaRPr sz="3200" b="1" u="sng" strike="noStrike" cap="none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8A58F98-C270-B7D6-7DF2-E1DE198389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2526" y="6226044"/>
            <a:ext cx="2852737" cy="476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35225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95E6640-B9B6-2BFC-D942-F27C76AD37E6}"/>
              </a:ext>
            </a:extLst>
          </p:cNvPr>
          <p:cNvSpPr txBox="1"/>
          <p:nvPr/>
        </p:nvSpPr>
        <p:spPr>
          <a:xfrm>
            <a:off x="1134014" y="1388811"/>
            <a:ext cx="9920287" cy="479503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342900" indent="-342900">
              <a:buFont typeface="Wingdings" panose="020B0604020202020204" pitchFamily="34" charset="0"/>
              <a:buChar char="q"/>
            </a:pPr>
            <a:r>
              <a:rPr lang="en-US" sz="3000" b="1">
                <a:latin typeface="Calibri Light"/>
                <a:ea typeface="Calibri Light"/>
                <a:cs typeface="Calibri Light"/>
              </a:rPr>
              <a:t>Technical Solution:</a:t>
            </a:r>
            <a:r>
              <a:rPr lang="en-US" sz="3000">
                <a:latin typeface="Calibri Light"/>
                <a:ea typeface="Calibri Light"/>
                <a:cs typeface="Calibri Light"/>
              </a:rPr>
              <a:t> Build an automated scraping pipeline using </a:t>
            </a:r>
            <a:r>
              <a:rPr lang="en-US" sz="3000" b="1">
                <a:latin typeface="Calibri Light"/>
                <a:ea typeface="Calibri Light"/>
                <a:cs typeface="Calibri Light"/>
              </a:rPr>
              <a:t>Selenium</a:t>
            </a:r>
            <a:r>
              <a:rPr lang="en-US" sz="3000">
                <a:latin typeface="Calibri Light"/>
                <a:ea typeface="Calibri Light"/>
                <a:cs typeface="Calibri Light"/>
              </a:rPr>
              <a:t> to bypass dynamic rendering and Shadow DOM barriers on Rotten Tomatoes.</a:t>
            </a:r>
          </a:p>
          <a:p>
            <a:pPr marL="342900" indent="-342900">
              <a:buFont typeface="Wingdings" panose="020B0604020202020204" pitchFamily="34" charset="0"/>
              <a:buChar char="q"/>
            </a:pPr>
            <a:r>
              <a:rPr lang="en-US" sz="3000" b="1">
                <a:latin typeface="Calibri Light"/>
                <a:ea typeface="Calibri Light"/>
                <a:cs typeface="Calibri Light"/>
              </a:rPr>
              <a:t>Data Extraction:</a:t>
            </a:r>
            <a:r>
              <a:rPr lang="en-US" sz="3000">
                <a:latin typeface="Calibri Light"/>
                <a:ea typeface="Calibri Light"/>
                <a:cs typeface="Calibri Light"/>
              </a:rPr>
              <a:t> Capture key metrics including critic scores, cast lists, and visual assets into a clean, structured dataset.</a:t>
            </a:r>
          </a:p>
          <a:p>
            <a:pPr marL="342900" indent="-342900">
              <a:buFont typeface="Wingdings" panose="020B0604020202020204" pitchFamily="34" charset="0"/>
              <a:buChar char="q"/>
            </a:pPr>
            <a:r>
              <a:rPr lang="en-US" sz="3000" b="1">
                <a:latin typeface="Calibri Light"/>
                <a:ea typeface="Calibri Light"/>
                <a:cs typeface="Calibri Light"/>
              </a:rPr>
              <a:t>Business Impact:</a:t>
            </a:r>
            <a:r>
              <a:rPr lang="en-US" sz="3000">
                <a:latin typeface="Calibri Light"/>
                <a:ea typeface="Calibri Light"/>
                <a:cs typeface="Calibri Light"/>
              </a:rPr>
              <a:t> Enable deeper analysis of movie performance and viewer trends to power data-driven decision-making.</a:t>
            </a:r>
          </a:p>
          <a:p>
            <a:pPr>
              <a:lnSpc>
                <a:spcPct val="150000"/>
              </a:lnSpc>
            </a:pPr>
            <a:endParaRPr lang="en-US" sz="2400" b="1">
              <a:ea typeface="Calibri"/>
              <a:cs typeface="Calibri"/>
            </a:endParaRPr>
          </a:p>
          <a:p>
            <a:pPr marL="342900" indent="-342900">
              <a:lnSpc>
                <a:spcPct val="150000"/>
              </a:lnSpc>
              <a:buFont typeface="Wingdings" panose="020B0604020202020204" pitchFamily="34" charset="0"/>
              <a:buChar char="q"/>
            </a:pPr>
            <a:endParaRPr lang="en-US" sz="2200" b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EEB8E73-7395-608A-DFD1-A38F179E0041}"/>
              </a:ext>
            </a:extLst>
          </p:cNvPr>
          <p:cNvSpPr txBox="1"/>
          <p:nvPr/>
        </p:nvSpPr>
        <p:spPr>
          <a:xfrm>
            <a:off x="3048629" y="360939"/>
            <a:ext cx="6096000" cy="76944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4400" b="1" u="sng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OBJECTIVES</a:t>
            </a:r>
            <a:endParaRPr lang="en-US" sz="4400" b="1">
              <a:latin typeface="Calibri"/>
              <a:ea typeface="Calibri"/>
              <a:cs typeface="Calibri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2D3487F-7EF6-2056-AA4E-67E1053EE3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7239" y="6180632"/>
            <a:ext cx="2852737" cy="476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5707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6048142-B35A-A807-3B77-7F6E248350C3}"/>
              </a:ext>
            </a:extLst>
          </p:cNvPr>
          <p:cNvSpPr txBox="1"/>
          <p:nvPr/>
        </p:nvSpPr>
        <p:spPr>
          <a:xfrm>
            <a:off x="500332" y="1062972"/>
            <a:ext cx="11182985" cy="637527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IN" sz="2400" b="1">
                <a:solidFill>
                  <a:srgbClr val="1F1F1F"/>
                </a:solidFill>
                <a:latin typeface="Calibri Light"/>
                <a:ea typeface="Calibri Light"/>
                <a:cs typeface="Calibri Light"/>
              </a:rPr>
              <a:t>Data Source:</a:t>
            </a:r>
            <a:r>
              <a:rPr lang="en-IN" sz="2400">
                <a:solidFill>
                  <a:srgbClr val="1F1F1F"/>
                </a:solidFill>
                <a:latin typeface="Calibri Light"/>
                <a:ea typeface="Calibri Light"/>
                <a:cs typeface="Calibri Light"/>
              </a:rPr>
              <a:t> Extracted directly from Rotten Tomatoes search results using automated browser navigation with </a:t>
            </a:r>
            <a:r>
              <a:rPr lang="en-IN" sz="2400" b="1">
                <a:solidFill>
                  <a:srgbClr val="1F1F1F"/>
                </a:solidFill>
                <a:latin typeface="Calibri Light"/>
                <a:ea typeface="Calibri Light"/>
                <a:cs typeface="Calibri Light"/>
              </a:rPr>
              <a:t>Selenium</a:t>
            </a:r>
            <a:r>
              <a:rPr lang="en-IN" sz="2400">
                <a:solidFill>
                  <a:srgbClr val="1F1F1F"/>
                </a:solidFill>
                <a:latin typeface="Calibri Light"/>
                <a:ea typeface="Calibri Light"/>
                <a:cs typeface="Calibri Light"/>
              </a:rPr>
              <a:t>.</a:t>
            </a:r>
            <a:endParaRPr lang="en-IN" sz="2400">
              <a:latin typeface="Calibri Light"/>
              <a:ea typeface="Calibri Light"/>
              <a:cs typeface="Calibri Light"/>
            </a:endParaRPr>
          </a:p>
          <a:p>
            <a:r>
              <a:rPr lang="en-IN" sz="2400" b="1">
                <a:solidFill>
                  <a:srgbClr val="1F1F1F"/>
                </a:solidFill>
                <a:latin typeface="Calibri Light"/>
                <a:ea typeface="Calibri Light"/>
                <a:cs typeface="Calibri Light"/>
              </a:rPr>
              <a:t>Dataset Scale &amp; Structure:</a:t>
            </a:r>
            <a:r>
              <a:rPr lang="en-IN" sz="2400">
                <a:solidFill>
                  <a:srgbClr val="1F1F1F"/>
                </a:solidFill>
                <a:latin typeface="Calibri Light"/>
                <a:ea typeface="Calibri Light"/>
                <a:cs typeface="Calibri Light"/>
              </a:rPr>
              <a:t> Contains </a:t>
            </a:r>
            <a:r>
              <a:rPr lang="en-IN" sz="2400" b="1">
                <a:solidFill>
                  <a:srgbClr val="1F1F1F"/>
                </a:solidFill>
                <a:latin typeface="Calibri Light"/>
                <a:ea typeface="Calibri Light"/>
                <a:cs typeface="Calibri Light"/>
              </a:rPr>
              <a:t>over 1,500 records</a:t>
            </a:r>
            <a:r>
              <a:rPr lang="en-IN" sz="2400">
                <a:solidFill>
                  <a:srgbClr val="1F1F1F"/>
                </a:solidFill>
                <a:latin typeface="Calibri Light"/>
                <a:ea typeface="Calibri Light"/>
                <a:cs typeface="Calibri Light"/>
              </a:rPr>
              <a:t> of movie metadata, converting unstructured dynamic web components into a clean tabular structure.</a:t>
            </a:r>
            <a:endParaRPr lang="en-US" sz="2400">
              <a:latin typeface="Calibri Light"/>
              <a:ea typeface="Calibri Light"/>
              <a:cs typeface="Calibri Light"/>
            </a:endParaRPr>
          </a:p>
          <a:p>
            <a:r>
              <a:rPr lang="en-IN" sz="2400" b="1">
                <a:solidFill>
                  <a:srgbClr val="FF0000"/>
                </a:solidFill>
                <a:latin typeface="Calibri Light"/>
                <a:ea typeface="Calibri Light"/>
                <a:cs typeface="Calibri Light"/>
              </a:rPr>
              <a:t>Tools &amp; Technologies</a:t>
            </a:r>
          </a:p>
          <a:p>
            <a:pPr marL="285750" indent="-285750">
              <a:buFont typeface="Arial"/>
              <a:buChar char="•"/>
            </a:pPr>
            <a:r>
              <a:rPr lang="en-IN" sz="2400" b="1">
                <a:latin typeface="Calibri Light"/>
                <a:ea typeface="Calibri Light"/>
                <a:cs typeface="Calibri Light"/>
              </a:rPr>
              <a:t>Python:</a:t>
            </a:r>
            <a:r>
              <a:rPr lang="en-IN" sz="2400">
                <a:latin typeface="Calibri Light"/>
                <a:ea typeface="Calibri Light"/>
                <a:cs typeface="Calibri Light"/>
              </a:rPr>
              <a:t> Core language used to build the data extraction pipeline and run analysis.</a:t>
            </a:r>
          </a:p>
          <a:p>
            <a:pPr marL="285750" indent="-285750">
              <a:buFont typeface="Arial"/>
              <a:buChar char="•"/>
            </a:pPr>
            <a:r>
              <a:rPr lang="en-IN" sz="2400" b="1">
                <a:latin typeface="Calibri Light"/>
                <a:ea typeface="Calibri Light"/>
                <a:cs typeface="Calibri Light"/>
              </a:rPr>
              <a:t>Selenium WebDriver:</a:t>
            </a:r>
            <a:r>
              <a:rPr lang="en-IN" sz="2400">
                <a:latin typeface="Calibri Light"/>
                <a:ea typeface="Calibri Light"/>
                <a:cs typeface="Calibri Light"/>
              </a:rPr>
              <a:t> Automates browser navigation and extracts hidden Shadow DOM elements.</a:t>
            </a:r>
          </a:p>
          <a:p>
            <a:pPr marL="285750" indent="-285750">
              <a:buFont typeface="Arial"/>
              <a:buChar char="•"/>
            </a:pPr>
            <a:r>
              <a:rPr lang="en-IN" sz="2400" b="1">
                <a:latin typeface="Calibri Light"/>
                <a:ea typeface="Calibri Light"/>
                <a:cs typeface="Calibri Light"/>
              </a:rPr>
              <a:t>Pandas &amp; NumPy:</a:t>
            </a:r>
            <a:r>
              <a:rPr lang="en-IN" sz="2400">
                <a:latin typeface="Calibri Light"/>
                <a:ea typeface="Calibri Light"/>
                <a:cs typeface="Calibri Light"/>
              </a:rPr>
              <a:t> Structures scraped dynamic data into tabular </a:t>
            </a:r>
            <a:r>
              <a:rPr lang="en-IN" sz="2400" err="1">
                <a:latin typeface="Calibri Light"/>
                <a:ea typeface="Calibri Light"/>
                <a:cs typeface="Calibri Light"/>
              </a:rPr>
              <a:t>DataFrames</a:t>
            </a:r>
            <a:r>
              <a:rPr lang="en-IN" sz="2400">
                <a:latin typeface="Calibri Light"/>
                <a:ea typeface="Calibri Light"/>
                <a:cs typeface="Calibri Light"/>
              </a:rPr>
              <a:t> and handles missing values.</a:t>
            </a:r>
          </a:p>
          <a:p>
            <a:pPr marL="285750" indent="-285750">
              <a:buFont typeface="Arial"/>
              <a:buChar char="•"/>
            </a:pPr>
            <a:r>
              <a:rPr lang="en-IN" sz="2400" b="1">
                <a:latin typeface="Calibri Light"/>
                <a:ea typeface="Calibri Light"/>
                <a:cs typeface="Calibri Light"/>
              </a:rPr>
              <a:t>Matplotlib &amp; Seaborn:</a:t>
            </a:r>
            <a:r>
              <a:rPr lang="en-IN" sz="2400">
                <a:latin typeface="Calibri Light"/>
                <a:ea typeface="Calibri Light"/>
                <a:cs typeface="Calibri Light"/>
              </a:rPr>
              <a:t> Generates visualizations to </a:t>
            </a:r>
            <a:r>
              <a:rPr lang="en-IN" sz="2400" err="1">
                <a:latin typeface="Calibri Light"/>
                <a:ea typeface="Calibri Light"/>
                <a:cs typeface="Calibri Light"/>
              </a:rPr>
              <a:t>analyze</a:t>
            </a:r>
            <a:r>
              <a:rPr lang="en-IN" sz="2400">
                <a:latin typeface="Calibri Light"/>
                <a:ea typeface="Calibri Light"/>
                <a:cs typeface="Calibri Light"/>
              </a:rPr>
              <a:t> critic rating distributions and movie trends.</a:t>
            </a:r>
          </a:p>
          <a:p>
            <a:pPr marL="285750" indent="-285750">
              <a:buFont typeface="Arial"/>
              <a:buChar char="•"/>
            </a:pPr>
            <a:r>
              <a:rPr lang="en-IN" sz="2400" b="1">
                <a:latin typeface="Calibri Light"/>
                <a:ea typeface="Calibri Light"/>
                <a:cs typeface="Calibri Light"/>
              </a:rPr>
              <a:t>Jupyter Notebook:</a:t>
            </a:r>
            <a:r>
              <a:rPr lang="en-IN" sz="2400">
                <a:latin typeface="Calibri Light"/>
                <a:ea typeface="Calibri Light"/>
                <a:cs typeface="Calibri Light"/>
              </a:rPr>
              <a:t> Environment used for DOM inspection, selector debugging, and interactive execution.</a:t>
            </a:r>
          </a:p>
          <a:p>
            <a:pPr>
              <a:lnSpc>
                <a:spcPct val="150000"/>
              </a:lnSpc>
            </a:pPr>
            <a:endParaRPr lang="en-IN" sz="2400">
              <a:ea typeface="Calibri"/>
              <a:cs typeface="Calibri"/>
            </a:endParaRPr>
          </a:p>
          <a:p>
            <a:pPr>
              <a:lnSpc>
                <a:spcPct val="150000"/>
              </a:lnSpc>
            </a:pPr>
            <a:endParaRPr lang="en-US" sz="24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24058B-EE0A-593B-A10E-FADE43C31FBC}"/>
              </a:ext>
            </a:extLst>
          </p:cNvPr>
          <p:cNvSpPr txBox="1"/>
          <p:nvPr/>
        </p:nvSpPr>
        <p:spPr>
          <a:xfrm>
            <a:off x="501731" y="544693"/>
            <a:ext cx="6096000" cy="46166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400" b="1" u="sng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DATASET DESCRIPTION:</a:t>
            </a:r>
            <a:endParaRPr lang="en-US" sz="2400" b="1">
              <a:latin typeface="Calibri"/>
              <a:ea typeface="Calibri"/>
              <a:cs typeface="Calibri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118792E-3C8D-19DE-0612-55BB79B8F4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07072" y="6189720"/>
            <a:ext cx="2689736" cy="441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15931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B91DED2-71A7-3E0E-7762-D0D8DA437F35}"/>
              </a:ext>
            </a:extLst>
          </p:cNvPr>
          <p:cNvSpPr txBox="1"/>
          <p:nvPr/>
        </p:nvSpPr>
        <p:spPr>
          <a:xfrm>
            <a:off x="1092679" y="1531188"/>
            <a:ext cx="10351698" cy="510909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IN" sz="2800" b="1">
                <a:solidFill>
                  <a:srgbClr val="000000"/>
                </a:solidFill>
                <a:latin typeface="Calibri Light"/>
                <a:ea typeface="Calibri Light"/>
                <a:cs typeface="Calibri Light"/>
              </a:rPr>
              <a:t>Title</a:t>
            </a:r>
            <a:r>
              <a:rPr lang="en-IN" sz="2800" b="1" i="0" u="none" strike="noStrike" baseline="0">
                <a:solidFill>
                  <a:srgbClr val="000000"/>
                </a:solidFill>
                <a:latin typeface="Calibri Light"/>
                <a:ea typeface="Calibri Light"/>
                <a:cs typeface="Calibri Light"/>
              </a:rPr>
              <a:t>:</a:t>
            </a:r>
            <a:r>
              <a:rPr lang="en-IN" sz="2800">
                <a:solidFill>
                  <a:srgbClr val="000000"/>
                </a:solidFill>
                <a:latin typeface="Calibri Light"/>
                <a:ea typeface="Calibri Light"/>
                <a:cs typeface="Calibri Light"/>
              </a:rPr>
              <a:t> The official name of the movie extracted directly </a:t>
            </a:r>
            <a:r>
              <a:rPr lang="en-IN" sz="2800" b="0" i="0" u="none" strike="noStrike" baseline="0">
                <a:solidFill>
                  <a:srgbClr val="000000"/>
                </a:solidFill>
                <a:latin typeface="Calibri Light"/>
                <a:ea typeface="Calibri Light"/>
                <a:cs typeface="Calibri Light"/>
              </a:rPr>
              <a:t>from </a:t>
            </a:r>
            <a:r>
              <a:rPr lang="en-IN" sz="2800">
                <a:solidFill>
                  <a:srgbClr val="000000"/>
                </a:solidFill>
                <a:latin typeface="Calibri Light"/>
                <a:ea typeface="Calibri Light"/>
                <a:cs typeface="Calibri Light"/>
              </a:rPr>
              <a:t>the main element </a:t>
            </a:r>
            <a:r>
              <a:rPr lang="en-IN" sz="2800" b="0" i="0" u="none" strike="noStrike" baseline="0">
                <a:solidFill>
                  <a:srgbClr val="000000"/>
                </a:solidFill>
                <a:latin typeface="Calibri Light"/>
                <a:ea typeface="Calibri Light"/>
                <a:cs typeface="Calibri Light"/>
              </a:rPr>
              <a:t>slot ([slot="title"]).</a:t>
            </a:r>
            <a:endParaRPr lang="en-US">
              <a:latin typeface="Calibri Light"/>
              <a:ea typeface="Calibri Light"/>
              <a:cs typeface="Calibri Light"/>
            </a:endParaRPr>
          </a:p>
          <a:p>
            <a:pPr marL="285750" indent="-285750">
              <a:buFont typeface="Arial"/>
              <a:buChar char="•"/>
            </a:pPr>
            <a:r>
              <a:rPr lang="en-IN" sz="2800" b="1">
                <a:solidFill>
                  <a:srgbClr val="000000"/>
                </a:solidFill>
                <a:latin typeface="Calibri Light"/>
                <a:ea typeface="Calibri Light"/>
                <a:cs typeface="Calibri Light"/>
              </a:rPr>
              <a:t>Year</a:t>
            </a:r>
            <a:r>
              <a:rPr lang="en-IN" sz="2800" b="1" i="0" u="none" strike="noStrike" baseline="0">
                <a:solidFill>
                  <a:srgbClr val="000000"/>
                </a:solidFill>
                <a:latin typeface="Calibri Light"/>
                <a:ea typeface="Calibri Light"/>
                <a:cs typeface="Calibri Light"/>
              </a:rPr>
              <a:t>:</a:t>
            </a:r>
            <a:r>
              <a:rPr lang="en-IN" sz="2800">
                <a:solidFill>
                  <a:srgbClr val="000000"/>
                </a:solidFill>
                <a:latin typeface="Calibri Light"/>
                <a:ea typeface="Calibri Light"/>
                <a:cs typeface="Calibri Light"/>
              </a:rPr>
              <a:t> The release year of the film, parsed and cleaned </a:t>
            </a:r>
            <a:r>
              <a:rPr lang="en-IN" sz="2800" b="0" i="0" u="none" strike="noStrike" baseline="0">
                <a:solidFill>
                  <a:srgbClr val="000000"/>
                </a:solidFill>
                <a:latin typeface="Calibri Light"/>
                <a:ea typeface="Calibri Light"/>
                <a:cs typeface="Calibri Light"/>
              </a:rPr>
              <a:t>from Shadow DOM </a:t>
            </a:r>
            <a:r>
              <a:rPr lang="en-IN" sz="2800">
                <a:solidFill>
                  <a:srgbClr val="000000"/>
                </a:solidFill>
                <a:latin typeface="Calibri Light"/>
                <a:ea typeface="Calibri Light"/>
                <a:cs typeface="Calibri Light"/>
              </a:rPr>
              <a:t>text </a:t>
            </a:r>
            <a:r>
              <a:rPr lang="en-IN" sz="2800" b="0" i="0" u="none" strike="noStrike" baseline="0">
                <a:solidFill>
                  <a:srgbClr val="000000"/>
                </a:solidFill>
                <a:latin typeface="Calibri Light"/>
                <a:ea typeface="Calibri Light"/>
                <a:cs typeface="Calibri Light"/>
              </a:rPr>
              <a:t>([data-</a:t>
            </a:r>
            <a:r>
              <a:rPr lang="en-IN" sz="2800" b="0" i="0" u="none" strike="noStrike" baseline="0" err="1">
                <a:solidFill>
                  <a:srgbClr val="000000"/>
                </a:solidFill>
                <a:latin typeface="Calibri Light"/>
                <a:ea typeface="Calibri Light"/>
                <a:cs typeface="Calibri Light"/>
              </a:rPr>
              <a:t>qa</a:t>
            </a:r>
            <a:r>
              <a:rPr lang="en-IN" sz="2800" b="0" i="0" u="none" strike="noStrike" baseline="0">
                <a:solidFill>
                  <a:srgbClr val="000000"/>
                </a:solidFill>
                <a:latin typeface="Calibri Light"/>
                <a:ea typeface="Calibri Light"/>
                <a:cs typeface="Calibri Light"/>
              </a:rPr>
              <a:t>="info-year</a:t>
            </a:r>
            <a:r>
              <a:rPr lang="en-IN" sz="2800">
                <a:solidFill>
                  <a:srgbClr val="000000"/>
                </a:solidFill>
                <a:latin typeface="Calibri Light"/>
                <a:ea typeface="Calibri Light"/>
                <a:cs typeface="Calibri Light"/>
              </a:rPr>
              <a:t>"]).</a:t>
            </a:r>
            <a:endParaRPr lang="en-IN">
              <a:latin typeface="Calibri Light"/>
              <a:ea typeface="Calibri Light"/>
              <a:cs typeface="Calibri Light"/>
            </a:endParaRPr>
          </a:p>
          <a:p>
            <a:pPr marL="285750" indent="-285750">
              <a:buFont typeface="Arial"/>
              <a:buChar char="•"/>
            </a:pPr>
            <a:r>
              <a:rPr lang="en-IN" sz="2800" b="1">
                <a:solidFill>
                  <a:srgbClr val="000000"/>
                </a:solidFill>
                <a:latin typeface="Calibri Light"/>
                <a:ea typeface="Calibri Light"/>
                <a:cs typeface="Calibri Light"/>
              </a:rPr>
              <a:t>Critics Score</a:t>
            </a:r>
            <a:r>
              <a:rPr lang="en-IN" sz="2800" b="1" i="0" u="none" strike="noStrike" baseline="0">
                <a:solidFill>
                  <a:srgbClr val="000000"/>
                </a:solidFill>
                <a:latin typeface="Calibri Light"/>
                <a:ea typeface="Calibri Light"/>
                <a:cs typeface="Calibri Light"/>
              </a:rPr>
              <a:t>:</a:t>
            </a:r>
            <a:r>
              <a:rPr lang="en-IN" sz="2800">
                <a:solidFill>
                  <a:srgbClr val="000000"/>
                </a:solidFill>
                <a:latin typeface="Calibri Light"/>
                <a:ea typeface="Calibri Light"/>
                <a:cs typeface="Calibri Light"/>
              </a:rPr>
              <a:t> The percentage score representing critical consensus, extracted </a:t>
            </a:r>
            <a:r>
              <a:rPr lang="en-IN" sz="2800" b="0" i="0" u="none" strike="noStrike" baseline="0">
                <a:solidFill>
                  <a:srgbClr val="000000"/>
                </a:solidFill>
                <a:latin typeface="Calibri Light"/>
                <a:ea typeface="Calibri Light"/>
                <a:cs typeface="Calibri Light"/>
              </a:rPr>
              <a:t>from </a:t>
            </a:r>
            <a:r>
              <a:rPr lang="en-IN" sz="2800">
                <a:solidFill>
                  <a:srgbClr val="000000"/>
                </a:solidFill>
                <a:latin typeface="Calibri Light"/>
                <a:ea typeface="Calibri Light"/>
                <a:cs typeface="Calibri Light"/>
              </a:rPr>
              <a:t>the shadow </a:t>
            </a:r>
            <a:r>
              <a:rPr lang="en-IN" sz="2800" b="0" i="0" u="none" strike="noStrike" baseline="0">
                <a:solidFill>
                  <a:srgbClr val="000000"/>
                </a:solidFill>
                <a:latin typeface="Calibri Light"/>
                <a:ea typeface="Calibri Light"/>
                <a:cs typeface="Calibri Light"/>
              </a:rPr>
              <a:t>DOM </a:t>
            </a:r>
            <a:r>
              <a:rPr lang="en-IN" sz="2800">
                <a:solidFill>
                  <a:srgbClr val="000000"/>
                </a:solidFill>
                <a:latin typeface="Calibri Light"/>
                <a:ea typeface="Calibri Light"/>
                <a:cs typeface="Calibri Light"/>
              </a:rPr>
              <a:t>class </a:t>
            </a:r>
            <a:r>
              <a:rPr lang="en-IN" sz="2800" b="0" i="0" u="none" strike="noStrike" baseline="0">
                <a:solidFill>
                  <a:srgbClr val="000000"/>
                </a:solidFill>
                <a:latin typeface="Calibri Light"/>
                <a:ea typeface="Calibri Light"/>
                <a:cs typeface="Calibri Light"/>
              </a:rPr>
              <a:t>(.critics-score</a:t>
            </a:r>
            <a:r>
              <a:rPr lang="en-IN" sz="2800">
                <a:solidFill>
                  <a:srgbClr val="000000"/>
                </a:solidFill>
                <a:latin typeface="Calibri Light"/>
                <a:ea typeface="Calibri Light"/>
                <a:cs typeface="Calibri Light"/>
              </a:rPr>
              <a:t>).</a:t>
            </a:r>
            <a:endParaRPr lang="en-IN">
              <a:latin typeface="Calibri Light"/>
              <a:ea typeface="Calibri Light"/>
              <a:cs typeface="Calibri Light"/>
            </a:endParaRPr>
          </a:p>
          <a:p>
            <a:pPr marL="285750" indent="-285750">
              <a:buFont typeface="Arial"/>
              <a:buChar char="•"/>
            </a:pPr>
            <a:r>
              <a:rPr lang="en-IN" sz="2800" b="1" i="0" u="none" strike="noStrike" baseline="0">
                <a:solidFill>
                  <a:srgbClr val="000000"/>
                </a:solidFill>
                <a:latin typeface="Calibri Light"/>
                <a:ea typeface="Calibri Light"/>
                <a:cs typeface="Calibri Light"/>
              </a:rPr>
              <a:t>Cast:</a:t>
            </a:r>
            <a:r>
              <a:rPr lang="en-IN" sz="2800">
                <a:solidFill>
                  <a:srgbClr val="000000"/>
                </a:solidFill>
                <a:latin typeface="Calibri Light"/>
                <a:ea typeface="Calibri Light"/>
                <a:cs typeface="Calibri Light"/>
              </a:rPr>
              <a:t> Key actors and cast members listed for the movie, dynamically rendered from attributes </a:t>
            </a:r>
            <a:r>
              <a:rPr lang="en-IN" sz="2800" b="0" i="0" u="none" strike="noStrike" baseline="0">
                <a:solidFill>
                  <a:srgbClr val="000000"/>
                </a:solidFill>
                <a:latin typeface="Calibri Light"/>
                <a:ea typeface="Calibri Light"/>
                <a:cs typeface="Calibri Light"/>
              </a:rPr>
              <a:t>([data-</a:t>
            </a:r>
            <a:r>
              <a:rPr lang="en-IN" sz="2800" b="0" i="0" u="none" strike="noStrike" baseline="0" err="1">
                <a:solidFill>
                  <a:srgbClr val="000000"/>
                </a:solidFill>
                <a:latin typeface="Calibri Light"/>
                <a:ea typeface="Calibri Light"/>
                <a:cs typeface="Calibri Light"/>
              </a:rPr>
              <a:t>qa</a:t>
            </a:r>
            <a:r>
              <a:rPr lang="en-IN" sz="2800" b="0" i="0" u="none" strike="noStrike" baseline="0">
                <a:solidFill>
                  <a:srgbClr val="000000"/>
                </a:solidFill>
                <a:latin typeface="Calibri Light"/>
                <a:ea typeface="Calibri Light"/>
                <a:cs typeface="Calibri Light"/>
              </a:rPr>
              <a:t>="info-cast</a:t>
            </a:r>
            <a:r>
              <a:rPr lang="en-IN" sz="2800">
                <a:solidFill>
                  <a:srgbClr val="000000"/>
                </a:solidFill>
                <a:latin typeface="Calibri Light"/>
                <a:ea typeface="Calibri Light"/>
                <a:cs typeface="Calibri Light"/>
              </a:rPr>
              <a:t>"]).</a:t>
            </a:r>
            <a:endParaRPr lang="en-IN">
              <a:latin typeface="Calibri Light"/>
              <a:ea typeface="Calibri Light"/>
              <a:cs typeface="Calibri Light"/>
            </a:endParaRPr>
          </a:p>
          <a:p>
            <a:pPr marL="285750" indent="-285750">
              <a:buFont typeface="Arial"/>
              <a:buChar char="•"/>
            </a:pPr>
            <a:r>
              <a:rPr lang="en-IN" sz="2800" b="1" i="0" u="none" strike="noStrike" baseline="0">
                <a:solidFill>
                  <a:srgbClr val="000000"/>
                </a:solidFill>
                <a:latin typeface="Calibri Light"/>
                <a:ea typeface="Calibri Light"/>
                <a:cs typeface="Calibri Light"/>
              </a:rPr>
              <a:t>Poster </a:t>
            </a:r>
            <a:r>
              <a:rPr lang="en-IN" sz="2800" b="1">
                <a:solidFill>
                  <a:srgbClr val="000000"/>
                </a:solidFill>
                <a:latin typeface="Calibri Light"/>
                <a:ea typeface="Calibri Light"/>
                <a:cs typeface="Calibri Light"/>
              </a:rPr>
              <a:t>URL</a:t>
            </a:r>
            <a:r>
              <a:rPr lang="en-IN" sz="2800" b="1" i="0" u="none" strike="noStrike" baseline="0">
                <a:solidFill>
                  <a:srgbClr val="000000"/>
                </a:solidFill>
                <a:latin typeface="Calibri Light"/>
                <a:ea typeface="Calibri Light"/>
                <a:cs typeface="Calibri Light"/>
              </a:rPr>
              <a:t>:</a:t>
            </a:r>
            <a:r>
              <a:rPr lang="en-IN" sz="2800">
                <a:solidFill>
                  <a:srgbClr val="000000"/>
                </a:solidFill>
                <a:latin typeface="Calibri Light"/>
                <a:ea typeface="Calibri Light"/>
                <a:cs typeface="Calibri Light"/>
              </a:rPr>
              <a:t> Direct </a:t>
            </a:r>
            <a:r>
              <a:rPr lang="en-IN" sz="2800" b="0" i="0" u="none" strike="noStrike" baseline="0">
                <a:solidFill>
                  <a:srgbClr val="000000"/>
                </a:solidFill>
                <a:latin typeface="Calibri Light"/>
                <a:ea typeface="Calibri Light"/>
                <a:cs typeface="Calibri Light"/>
              </a:rPr>
              <a:t>image </a:t>
            </a:r>
            <a:r>
              <a:rPr lang="en-IN" sz="2800">
                <a:solidFill>
                  <a:srgbClr val="000000"/>
                </a:solidFill>
                <a:latin typeface="Calibri Light"/>
                <a:ea typeface="Calibri Light"/>
                <a:cs typeface="Calibri Light"/>
              </a:rPr>
              <a:t>link </a:t>
            </a:r>
            <a:r>
              <a:rPr lang="en-IN" sz="2800" b="0" i="0" u="none" strike="noStrike" baseline="0">
                <a:solidFill>
                  <a:srgbClr val="000000"/>
                </a:solidFill>
                <a:latin typeface="Calibri Light"/>
                <a:ea typeface="Calibri Light"/>
                <a:cs typeface="Calibri Light"/>
              </a:rPr>
              <a:t>([slot="thumbnail"]</a:t>
            </a:r>
            <a:r>
              <a:rPr lang="en-IN" sz="2800">
                <a:solidFill>
                  <a:srgbClr val="000000"/>
                </a:solidFill>
                <a:latin typeface="Calibri Light"/>
                <a:ea typeface="Calibri Light"/>
                <a:cs typeface="Calibri Light"/>
              </a:rPr>
              <a:t> </a:t>
            </a:r>
            <a:r>
              <a:rPr lang="en-IN" sz="2800" b="0" i="0" u="none" strike="noStrike" baseline="0" err="1">
                <a:solidFill>
                  <a:srgbClr val="000000"/>
                </a:solidFill>
                <a:latin typeface="Calibri Light"/>
                <a:ea typeface="Calibri Light"/>
                <a:cs typeface="Calibri Light"/>
              </a:rPr>
              <a:t>img</a:t>
            </a:r>
            <a:r>
              <a:rPr lang="en-IN" sz="2800" b="0" i="0" u="none" strike="noStrike" baseline="0">
                <a:solidFill>
                  <a:srgbClr val="000000"/>
                </a:solidFill>
                <a:latin typeface="Calibri Light"/>
                <a:ea typeface="Calibri Light"/>
                <a:cs typeface="Calibri Light"/>
              </a:rPr>
              <a:t>) </a:t>
            </a:r>
            <a:r>
              <a:rPr lang="en-IN" sz="2800">
                <a:solidFill>
                  <a:srgbClr val="000000"/>
                </a:solidFill>
                <a:latin typeface="Calibri Light"/>
                <a:ea typeface="Calibri Light"/>
                <a:cs typeface="Calibri Light"/>
              </a:rPr>
              <a:t>pointing to the official movie thumbnail/poster </a:t>
            </a:r>
            <a:r>
              <a:rPr lang="en-IN" sz="2800" b="0" i="0" u="none" strike="noStrike" baseline="0">
                <a:solidFill>
                  <a:srgbClr val="000000"/>
                </a:solidFill>
                <a:latin typeface="Calibri Light"/>
                <a:ea typeface="Calibri Light"/>
                <a:cs typeface="Calibri Light"/>
              </a:rPr>
              <a:t>asset.</a:t>
            </a:r>
            <a:endParaRPr lang="en-US">
              <a:latin typeface="Calibri Light"/>
              <a:ea typeface="Calibri Light"/>
              <a:cs typeface="Calibri Light"/>
            </a:endParaRPr>
          </a:p>
          <a:p>
            <a:pPr algn="l"/>
            <a:endParaRPr lang="en-IN" sz="2800" b="0" i="0">
              <a:solidFill>
                <a:srgbClr val="000000"/>
              </a:solidFill>
              <a:latin typeface="Calibri Light"/>
              <a:ea typeface="Calibri Light"/>
              <a:cs typeface="Calibri Light"/>
            </a:endParaRPr>
          </a:p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EEC0A64-82BD-2ECF-328B-1975DF3C43CB}"/>
              </a:ext>
            </a:extLst>
          </p:cNvPr>
          <p:cNvSpPr txBox="1"/>
          <p:nvPr/>
        </p:nvSpPr>
        <p:spPr>
          <a:xfrm>
            <a:off x="3019245" y="611038"/>
            <a:ext cx="6139132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IN" sz="3600" b="1">
                <a:solidFill>
                  <a:srgbClr val="FF0000"/>
                </a:solidFill>
                <a:latin typeface="Times New Roman"/>
                <a:cs typeface="Times New Roman"/>
              </a:rPr>
              <a:t>KEY FIELDS EXTRACTED</a:t>
            </a:r>
            <a:r>
              <a:rPr lang="en-IN" sz="3600" b="1" i="0" u="none" strike="noStrike" baseline="0">
                <a:solidFill>
                  <a:srgbClr val="FF0000"/>
                </a:solidFill>
                <a:latin typeface="Times New Roman"/>
                <a:cs typeface="Times New Roman"/>
              </a:rPr>
              <a:t>​</a:t>
            </a:r>
            <a:r>
              <a:rPr sz="3600" b="1" i="0">
                <a:solidFill>
                  <a:srgbClr val="FF0000"/>
                </a:solidFill>
                <a:latin typeface="Times New Roman"/>
                <a:ea typeface="Calibri"/>
                <a:cs typeface="Times New Roman"/>
              </a:rPr>
              <a:t>​</a:t>
            </a:r>
            <a:endParaRPr lang="en-US" sz="3600" b="1">
              <a:solidFill>
                <a:srgbClr val="FF0000"/>
              </a:solidFill>
              <a:latin typeface="Times New Roman"/>
              <a:ea typeface="Calibri"/>
              <a:cs typeface="Times New Roman"/>
            </a:endParaRPr>
          </a:p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895D957-D55D-E0BB-738E-62BC0726CC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07072" y="6189720"/>
            <a:ext cx="2689736" cy="441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61094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23E35B-83F4-39E8-85FB-549849EE93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295C809-416D-F637-3730-B40C43BCEF27}"/>
              </a:ext>
            </a:extLst>
          </p:cNvPr>
          <p:cNvSpPr txBox="1"/>
          <p:nvPr/>
        </p:nvSpPr>
        <p:spPr>
          <a:xfrm>
            <a:off x="3936521" y="602963"/>
            <a:ext cx="4126301" cy="5232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800" b="1" u="sng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COLUMNS DESCRIPTION:</a:t>
            </a:r>
            <a:endParaRPr lang="en-US" sz="2800">
              <a:latin typeface="Calibri"/>
              <a:ea typeface="Calibri"/>
              <a:cs typeface="Calibri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21F7677-A852-1FC3-63F0-723A624A8E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07072" y="6189720"/>
            <a:ext cx="2689736" cy="44111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EE2BAD9-12CC-655D-CBF3-D46CDDA8AD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2526" y="6226044"/>
            <a:ext cx="2852737" cy="476326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55E32733-BD2E-3E3F-CCA4-02ADC2D1F4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3811" y="1430377"/>
            <a:ext cx="11257472" cy="3997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99497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7E47A3B-0477-EADF-2BBC-3CA079011F08}"/>
              </a:ext>
            </a:extLst>
          </p:cNvPr>
          <p:cNvSpPr txBox="1"/>
          <p:nvPr/>
        </p:nvSpPr>
        <p:spPr>
          <a:xfrm>
            <a:off x="187860" y="245384"/>
            <a:ext cx="6097508" cy="5232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800" b="1" u="sng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UNI VARIANT ANALYSIS:</a:t>
            </a:r>
            <a:endParaRPr lang="en-US" sz="2800">
              <a:latin typeface="Calibri"/>
              <a:ea typeface="Calibri"/>
              <a:cs typeface="Calibri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1B6F264-F863-B642-1991-115C3A23E032}"/>
              </a:ext>
            </a:extLst>
          </p:cNvPr>
          <p:cNvSpPr txBox="1"/>
          <p:nvPr/>
        </p:nvSpPr>
        <p:spPr>
          <a:xfrm>
            <a:off x="473732" y="3987556"/>
            <a:ext cx="5619391" cy="286232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000" b="1" u="sng"/>
              <a:t>Insight:</a:t>
            </a:r>
          </a:p>
          <a:p>
            <a:pPr>
              <a:buFont typeface="Arial"/>
              <a:buChar char="•"/>
            </a:pPr>
            <a:r>
              <a:rPr lang="en-IN" sz="2000" b="1">
                <a:ea typeface="+mn-lt"/>
                <a:cs typeface="+mn-lt"/>
              </a:rPr>
              <a:t>Modern Focus:</a:t>
            </a:r>
            <a:r>
              <a:rPr lang="en-IN" sz="2000">
                <a:ea typeface="+mn-lt"/>
                <a:cs typeface="+mn-lt"/>
              </a:rPr>
              <a:t> Heavy concentration around </a:t>
            </a:r>
            <a:r>
              <a:rPr lang="en-IN" sz="2000" b="1">
                <a:ea typeface="+mn-lt"/>
                <a:cs typeface="+mn-lt"/>
              </a:rPr>
              <a:t>2010</a:t>
            </a:r>
            <a:r>
              <a:rPr lang="en-IN" sz="2000">
                <a:ea typeface="+mn-lt"/>
                <a:cs typeface="+mn-lt"/>
              </a:rPr>
              <a:t>, showing a dataset bias toward recent releases.</a:t>
            </a:r>
            <a:endParaRPr lang="en-IN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en-IN" sz="2000" b="1">
                <a:ea typeface="+mn-lt"/>
                <a:cs typeface="+mn-lt"/>
              </a:rPr>
              <a:t>Historical Clusters:</a:t>
            </a:r>
            <a:r>
              <a:rPr lang="en-IN" sz="2000">
                <a:ea typeface="+mn-lt"/>
                <a:cs typeface="+mn-lt"/>
              </a:rPr>
              <a:t> Smaller peaks in </a:t>
            </a:r>
            <a:r>
              <a:rPr lang="en-IN" sz="2000" b="1">
                <a:ea typeface="+mn-lt"/>
                <a:cs typeface="+mn-lt"/>
              </a:rPr>
              <a:t>1980</a:t>
            </a:r>
            <a:r>
              <a:rPr lang="en-IN" sz="2000">
                <a:ea typeface="+mn-lt"/>
                <a:cs typeface="+mn-lt"/>
              </a:rPr>
              <a:t>, </a:t>
            </a:r>
            <a:r>
              <a:rPr lang="en-IN" sz="2000" b="1">
                <a:ea typeface="+mn-lt"/>
                <a:cs typeface="+mn-lt"/>
              </a:rPr>
              <a:t>2000</a:t>
            </a:r>
            <a:r>
              <a:rPr lang="en-IN" sz="2000">
                <a:ea typeface="+mn-lt"/>
                <a:cs typeface="+mn-lt"/>
              </a:rPr>
              <a:t>, and </a:t>
            </a:r>
            <a:r>
              <a:rPr lang="en-IN" sz="2000" b="1">
                <a:ea typeface="+mn-lt"/>
                <a:cs typeface="+mn-lt"/>
              </a:rPr>
              <a:t>post-2020</a:t>
            </a:r>
            <a:r>
              <a:rPr lang="en-IN" sz="2000">
                <a:ea typeface="+mn-lt"/>
                <a:cs typeface="+mn-lt"/>
              </a:rPr>
              <a:t>.</a:t>
            </a:r>
            <a:endParaRPr lang="en-IN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en-IN" sz="2000" b="1">
                <a:ea typeface="+mn-lt"/>
                <a:cs typeface="+mn-lt"/>
              </a:rPr>
              <a:t>Limited Pre-1980 Data:</a:t>
            </a:r>
            <a:r>
              <a:rPr lang="en-IN" sz="2000">
                <a:ea typeface="+mn-lt"/>
                <a:cs typeface="+mn-lt"/>
              </a:rPr>
              <a:t> Very few older classic movies are included.</a:t>
            </a:r>
            <a:endParaRPr lang="en-IN">
              <a:ea typeface="+mn-lt"/>
              <a:cs typeface="+mn-lt"/>
            </a:endParaRPr>
          </a:p>
          <a:p>
            <a:endParaRPr lang="en-IN" sz="2000">
              <a:ea typeface="+mn-lt"/>
              <a:cs typeface="+mn-lt"/>
            </a:endParaRPr>
          </a:p>
          <a:p>
            <a:endParaRPr lang="en-IN" sz="20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8B9BA344-2856-C4F6-53E5-02E36F8E9E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4106" y="6397808"/>
            <a:ext cx="2689736" cy="44111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EFBC53B-7AA5-3FED-941E-1EC32DAF7173}"/>
              </a:ext>
            </a:extLst>
          </p:cNvPr>
          <p:cNvSpPr txBox="1"/>
          <p:nvPr/>
        </p:nvSpPr>
        <p:spPr>
          <a:xfrm>
            <a:off x="6285368" y="3843709"/>
            <a:ext cx="5650993" cy="255454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000" b="1" u="sng"/>
              <a:t>Insight:</a:t>
            </a:r>
          </a:p>
          <a:p>
            <a:pPr>
              <a:buFont typeface="Arial"/>
              <a:buChar char="•"/>
            </a:pPr>
            <a:r>
              <a:rPr lang="en-IN" sz="2000" b="1">
                <a:ea typeface="+mn-lt"/>
                <a:cs typeface="+mn-lt"/>
              </a:rPr>
              <a:t>High-Rating Peak:</a:t>
            </a:r>
            <a:r>
              <a:rPr lang="en-IN" sz="2000">
                <a:ea typeface="+mn-lt"/>
                <a:cs typeface="+mn-lt"/>
              </a:rPr>
              <a:t> Sharp spike at </a:t>
            </a:r>
            <a:r>
              <a:rPr lang="en-IN" sz="2000" b="1">
                <a:ea typeface="+mn-lt"/>
                <a:cs typeface="+mn-lt"/>
              </a:rPr>
              <a:t>80%–90%</a:t>
            </a:r>
            <a:r>
              <a:rPr lang="en-IN" sz="2000">
                <a:ea typeface="+mn-lt"/>
                <a:cs typeface="+mn-lt"/>
              </a:rPr>
              <a:t>, showing a focus on highly acclaimed movies.</a:t>
            </a:r>
            <a:endParaRPr lang="en-IN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en-IN" sz="2000" b="1">
                <a:ea typeface="+mn-lt"/>
                <a:cs typeface="+mn-lt"/>
              </a:rPr>
              <a:t>Positive Bias:</a:t>
            </a:r>
            <a:r>
              <a:rPr lang="en-IN" sz="2000">
                <a:ea typeface="+mn-lt"/>
                <a:cs typeface="+mn-lt"/>
              </a:rPr>
              <a:t> Most titles have top ratings with very few mid-range scores.</a:t>
            </a:r>
            <a:endParaRPr lang="en-IN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en-IN" sz="2000" b="1">
                <a:ea typeface="+mn-lt"/>
                <a:cs typeface="+mn-lt"/>
              </a:rPr>
              <a:t>Low Ratings Rare:</a:t>
            </a:r>
            <a:r>
              <a:rPr lang="en-IN" sz="2000">
                <a:ea typeface="+mn-lt"/>
                <a:cs typeface="+mn-lt"/>
              </a:rPr>
              <a:t> Scores below </a:t>
            </a:r>
            <a:r>
              <a:rPr lang="en-IN" sz="2000" b="1">
                <a:ea typeface="+mn-lt"/>
                <a:cs typeface="+mn-lt"/>
              </a:rPr>
              <a:t>60%</a:t>
            </a:r>
            <a:r>
              <a:rPr lang="en-IN" sz="2000">
                <a:ea typeface="+mn-lt"/>
                <a:cs typeface="+mn-lt"/>
              </a:rPr>
              <a:t> are minimal across the dataset.</a:t>
            </a:r>
            <a:endParaRPr lang="en-IN">
              <a:ea typeface="+mn-lt"/>
              <a:cs typeface="+mn-lt"/>
            </a:endParaRPr>
          </a:p>
          <a:p>
            <a:endParaRPr lang="en-IN" sz="20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7" name="Content Placeholder 4">
            <a:extLst>
              <a:ext uri="{FF2B5EF4-FFF2-40B4-BE49-F238E27FC236}">
                <a16:creationId xmlns:a16="http://schemas.microsoft.com/office/drawing/2014/main" id="{3D0192EB-0873-C810-044E-494496E13C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766" y="805326"/>
            <a:ext cx="4261450" cy="3013258"/>
          </a:xfrm>
          <a:prstGeom prst="rect">
            <a:avLst/>
          </a:prstGeom>
        </p:spPr>
      </p:pic>
      <p:pic>
        <p:nvPicPr>
          <p:cNvPr id="10" name="Content Placeholder 5">
            <a:extLst>
              <a:ext uri="{FF2B5EF4-FFF2-40B4-BE49-F238E27FC236}">
                <a16:creationId xmlns:a16="http://schemas.microsoft.com/office/drawing/2014/main" id="{5A9EB6E7-DA0D-0095-2DD5-4CB6B6962A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4804" y="755889"/>
            <a:ext cx="4606506" cy="3040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47410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52FD9E-37D3-FC21-FCD1-79382FC96D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80F83C-A49D-C3BB-5640-9B9232D5E569}"/>
              </a:ext>
            </a:extLst>
          </p:cNvPr>
          <p:cNvSpPr txBox="1"/>
          <p:nvPr/>
        </p:nvSpPr>
        <p:spPr>
          <a:xfrm>
            <a:off x="187860" y="245384"/>
            <a:ext cx="609750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u="sng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Uni Variant Analysis:</a:t>
            </a:r>
            <a:endParaRPr lang="en-US" sz="28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27E0650-7553-6C6E-8559-34360967A727}"/>
              </a:ext>
            </a:extLst>
          </p:cNvPr>
          <p:cNvSpPr txBox="1"/>
          <p:nvPr/>
        </p:nvSpPr>
        <p:spPr>
          <a:xfrm>
            <a:off x="467042" y="4159839"/>
            <a:ext cx="5288304" cy="286232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000" b="1" u="sng"/>
              <a:t>Insight:</a:t>
            </a:r>
          </a:p>
          <a:p>
            <a:pPr>
              <a:buFont typeface="Arial"/>
              <a:buChar char="•"/>
            </a:pPr>
            <a:r>
              <a:rPr lang="en-IN" sz="2000" b="1">
                <a:ea typeface="+mn-lt"/>
                <a:cs typeface="+mn-lt"/>
              </a:rPr>
              <a:t>Dominant High Ratings:</a:t>
            </a:r>
            <a:r>
              <a:rPr lang="en-IN" sz="2000">
                <a:ea typeface="+mn-lt"/>
                <a:cs typeface="+mn-lt"/>
              </a:rPr>
              <a:t> 9</a:t>
            </a:r>
            <a:r>
              <a:rPr lang="en-IN" sz="2000" b="1">
                <a:ea typeface="+mn-lt"/>
                <a:cs typeface="+mn-lt"/>
              </a:rPr>
              <a:t>0%</a:t>
            </a:r>
            <a:r>
              <a:rPr lang="en-IN" sz="2000">
                <a:ea typeface="+mn-lt"/>
                <a:cs typeface="+mn-lt"/>
              </a:rPr>
              <a:t> of movies qualify as "Hits" with critic scores of </a:t>
            </a:r>
            <a:r>
              <a:rPr lang="en-IN" sz="2000" b="1">
                <a:ea typeface="+mn-lt"/>
                <a:cs typeface="+mn-lt"/>
              </a:rPr>
              <a:t>65% or higher</a:t>
            </a:r>
            <a:r>
              <a:rPr lang="en-IN" sz="2000">
                <a:ea typeface="+mn-lt"/>
                <a:cs typeface="+mn-lt"/>
              </a:rPr>
              <a:t>.</a:t>
            </a:r>
            <a:endParaRPr lang="en-IN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en-IN" sz="2000" b="1">
                <a:ea typeface="+mn-lt"/>
                <a:cs typeface="+mn-lt"/>
              </a:rPr>
              <a:t>Low Representation of Flops:</a:t>
            </a:r>
            <a:r>
              <a:rPr lang="en-IN" sz="2000">
                <a:ea typeface="+mn-lt"/>
                <a:cs typeface="+mn-lt"/>
              </a:rPr>
              <a:t> Only </a:t>
            </a:r>
            <a:r>
              <a:rPr lang="en-IN" sz="2000" b="1">
                <a:ea typeface="+mn-lt"/>
                <a:cs typeface="+mn-lt"/>
              </a:rPr>
              <a:t>10%</a:t>
            </a:r>
            <a:r>
              <a:rPr lang="en-IN" sz="2000">
                <a:ea typeface="+mn-lt"/>
                <a:cs typeface="+mn-lt"/>
              </a:rPr>
              <a:t> fall into the below-average category (</a:t>
            </a:r>
            <a:r>
              <a:rPr lang="en-IN" sz="2000" b="1">
                <a:ea typeface="+mn-lt"/>
                <a:cs typeface="+mn-lt"/>
              </a:rPr>
              <a:t>&lt; 60%</a:t>
            </a:r>
            <a:r>
              <a:rPr lang="en-IN" sz="2000">
                <a:ea typeface="+mn-lt"/>
                <a:cs typeface="+mn-lt"/>
              </a:rPr>
              <a:t>).</a:t>
            </a:r>
            <a:endParaRPr lang="en-IN"/>
          </a:p>
          <a:p>
            <a:pPr>
              <a:buFont typeface="Arial"/>
              <a:buChar char="•"/>
            </a:pPr>
            <a:r>
              <a:rPr lang="en-IN" sz="2000" b="1">
                <a:ea typeface="+mn-lt"/>
                <a:cs typeface="+mn-lt"/>
              </a:rPr>
              <a:t>Positive Dataset Bias:</a:t>
            </a:r>
            <a:r>
              <a:rPr lang="en-IN" sz="2000">
                <a:ea typeface="+mn-lt"/>
                <a:cs typeface="+mn-lt"/>
              </a:rPr>
              <a:t> Scraped movie data is heavily weighted toward highly-rated titles.</a:t>
            </a:r>
            <a:endParaRPr lang="en-IN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endParaRPr lang="en-IN" sz="2000">
              <a:ea typeface="+mn-lt"/>
              <a:cs typeface="+mn-lt"/>
            </a:endParaRPr>
          </a:p>
          <a:p>
            <a:endParaRPr lang="en-IN" sz="20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520DA551-8BF3-593B-8DB1-0E24747584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4106" y="6397808"/>
            <a:ext cx="2689736" cy="44111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F46FB7D-275F-3589-C000-506E7F5638D5}"/>
              </a:ext>
            </a:extLst>
          </p:cNvPr>
          <p:cNvSpPr txBox="1"/>
          <p:nvPr/>
        </p:nvSpPr>
        <p:spPr>
          <a:xfrm>
            <a:off x="6101072" y="3978511"/>
            <a:ext cx="5628958" cy="286232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000" b="1" u="sng"/>
              <a:t>Insight:</a:t>
            </a:r>
          </a:p>
          <a:p>
            <a:pPr marL="285750" indent="-285750">
              <a:buFont typeface="Arial"/>
              <a:buChar char="•"/>
            </a:pPr>
            <a:r>
              <a:rPr lang="en-IN" sz="2000" b="1">
                <a:ea typeface="+mn-lt"/>
                <a:cs typeface="+mn-lt"/>
              </a:rPr>
              <a:t>Concentrated Peak:</a:t>
            </a:r>
            <a:r>
              <a:rPr lang="en-IN" sz="2000">
                <a:ea typeface="+mn-lt"/>
                <a:cs typeface="+mn-lt"/>
              </a:rPr>
              <a:t> Over </a:t>
            </a:r>
            <a:r>
              <a:rPr lang="en-IN" sz="2000" b="1">
                <a:ea typeface="+mn-lt"/>
                <a:cs typeface="+mn-lt"/>
              </a:rPr>
              <a:t>800 titles</a:t>
            </a:r>
            <a:r>
              <a:rPr lang="en-IN" sz="2000">
                <a:ea typeface="+mn-lt"/>
                <a:cs typeface="+mn-lt"/>
              </a:rPr>
              <a:t> were released around </a:t>
            </a:r>
            <a:r>
              <a:rPr lang="en-IN" sz="2000" b="1">
                <a:ea typeface="+mn-lt"/>
                <a:cs typeface="+mn-lt"/>
              </a:rPr>
              <a:t>2009–2010</a:t>
            </a:r>
            <a:r>
              <a:rPr lang="en-IN" sz="2000">
                <a:ea typeface="+mn-lt"/>
                <a:cs typeface="+mn-lt"/>
              </a:rPr>
              <a:t>, dominating the dataset.</a:t>
            </a:r>
            <a:endParaRPr lang="en-IN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IN" sz="2000" b="1">
                <a:ea typeface="+mn-lt"/>
                <a:cs typeface="+mn-lt"/>
              </a:rPr>
              <a:t>Low Volume Elsewhere:</a:t>
            </a:r>
            <a:r>
              <a:rPr lang="en-IN" sz="2000">
                <a:ea typeface="+mn-lt"/>
                <a:cs typeface="+mn-lt"/>
              </a:rPr>
              <a:t> Other sampled years (1980, 1997, 2001) average under 100 movies each.</a:t>
            </a:r>
            <a:endParaRPr lang="en-IN"/>
          </a:p>
          <a:p>
            <a:pPr marL="285750" indent="-285750">
              <a:buFont typeface="Arial"/>
              <a:buChar char="•"/>
            </a:pPr>
            <a:r>
              <a:rPr lang="en-IN" sz="2000" b="1">
                <a:ea typeface="+mn-lt"/>
                <a:cs typeface="+mn-lt"/>
              </a:rPr>
              <a:t>Recent Focus:</a:t>
            </a:r>
            <a:r>
              <a:rPr lang="en-IN" sz="2000">
                <a:ea typeface="+mn-lt"/>
                <a:cs typeface="+mn-lt"/>
              </a:rPr>
              <a:t> Scraped records heavily </a:t>
            </a:r>
            <a:r>
              <a:rPr lang="en-IN" sz="2000" err="1">
                <a:ea typeface="+mn-lt"/>
                <a:cs typeface="+mn-lt"/>
              </a:rPr>
              <a:t>favor</a:t>
            </a:r>
            <a:r>
              <a:rPr lang="en-IN" sz="2000">
                <a:ea typeface="+mn-lt"/>
                <a:cs typeface="+mn-lt"/>
              </a:rPr>
              <a:t> late-2000s releases over older classics.</a:t>
            </a:r>
            <a:endParaRPr lang="en-IN">
              <a:ea typeface="+mn-lt"/>
              <a:cs typeface="+mn-lt"/>
            </a:endParaRPr>
          </a:p>
          <a:p>
            <a:endParaRPr lang="en-IN" sz="20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FF81EDF-FEFD-0DDE-14D6-48FEC5974C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7944" y="761732"/>
            <a:ext cx="3361247" cy="290476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6E43A6D-C454-435B-E257-85D83FF700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57504" y="767209"/>
            <a:ext cx="6082881" cy="2879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79970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2C2EFF-3A8F-720D-E8C9-E295B52120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4B4765F-06A7-4AE3-38B5-D97921BF10EA}"/>
              </a:ext>
            </a:extLst>
          </p:cNvPr>
          <p:cNvSpPr txBox="1"/>
          <p:nvPr/>
        </p:nvSpPr>
        <p:spPr>
          <a:xfrm>
            <a:off x="187860" y="245384"/>
            <a:ext cx="6097508" cy="5232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800" b="1" u="sng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BI VARIANT ANALYSIS:</a:t>
            </a:r>
            <a:endParaRPr lang="en-US" sz="2800">
              <a:latin typeface="Calibri"/>
              <a:ea typeface="Calibri"/>
              <a:cs typeface="Calibri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0EDE765D-8FD2-D921-23E9-303FC16FA4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4106" y="6397808"/>
            <a:ext cx="2689736" cy="44111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89A840E-DD53-C877-8497-37C842E637F6}"/>
              </a:ext>
            </a:extLst>
          </p:cNvPr>
          <p:cNvSpPr txBox="1"/>
          <p:nvPr/>
        </p:nvSpPr>
        <p:spPr>
          <a:xfrm>
            <a:off x="400855" y="4422065"/>
            <a:ext cx="11356097" cy="246221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2200" b="1">
                <a:ea typeface="+mn-lt"/>
                <a:cs typeface="+mn-lt"/>
              </a:rPr>
              <a:t>Consistent Scores Over Time:</a:t>
            </a:r>
            <a:r>
              <a:rPr lang="en-US" sz="2200">
                <a:ea typeface="+mn-lt"/>
                <a:cs typeface="+mn-lt"/>
              </a:rPr>
              <a:t> Critic ratings remain consistently high across all release years, ranging mainly between </a:t>
            </a:r>
            <a:r>
              <a:rPr lang="en-US" sz="2200" b="1">
                <a:ea typeface="+mn-lt"/>
                <a:cs typeface="+mn-lt"/>
              </a:rPr>
              <a:t>80% and 100%</a:t>
            </a:r>
            <a:r>
              <a:rPr lang="en-US" sz="2200">
                <a:ea typeface="+mn-lt"/>
                <a:cs typeface="+mn-lt"/>
              </a:rPr>
              <a:t>.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sz="2200" b="1">
                <a:ea typeface="+mn-lt"/>
                <a:cs typeface="+mn-lt"/>
              </a:rPr>
              <a:t>No Correlation:</a:t>
            </a:r>
            <a:r>
              <a:rPr lang="en-US" sz="2200">
                <a:ea typeface="+mn-lt"/>
                <a:cs typeface="+mn-lt"/>
              </a:rPr>
              <a:t> The flat regression line indicates that </a:t>
            </a:r>
            <a:r>
              <a:rPr lang="en-US" sz="2200" b="1">
                <a:ea typeface="+mn-lt"/>
                <a:cs typeface="+mn-lt"/>
              </a:rPr>
              <a:t>Release Year has virtually no impact on Critics Score</a:t>
            </a:r>
            <a:r>
              <a:rPr lang="en-US" sz="2200">
                <a:ea typeface="+mn-lt"/>
                <a:cs typeface="+mn-lt"/>
              </a:rPr>
              <a:t>.</a:t>
            </a:r>
            <a:endParaRPr lang="en-US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sz="2200" b="1">
                <a:ea typeface="+mn-lt"/>
                <a:cs typeface="+mn-lt"/>
              </a:rPr>
              <a:t>Notable Outlier:</a:t>
            </a:r>
            <a:r>
              <a:rPr lang="en-US" sz="2200">
                <a:ea typeface="+mn-lt"/>
                <a:cs typeface="+mn-lt"/>
              </a:rPr>
              <a:t> A rare outlier near </a:t>
            </a:r>
            <a:r>
              <a:rPr lang="en-US" sz="2200" b="1">
                <a:ea typeface="+mn-lt"/>
                <a:cs typeface="+mn-lt"/>
              </a:rPr>
              <a:t>2010</a:t>
            </a:r>
            <a:r>
              <a:rPr lang="en-US" sz="2200">
                <a:ea typeface="+mn-lt"/>
                <a:cs typeface="+mn-lt"/>
              </a:rPr>
              <a:t> records a score near 0%, standing out from an otherwise highly-rated </a:t>
            </a:r>
            <a:r>
              <a:rPr lang="en-US" sz="2200" err="1">
                <a:ea typeface="+mn-lt"/>
                <a:cs typeface="+mn-lt"/>
              </a:rPr>
              <a:t>datase</a:t>
            </a:r>
            <a:endParaRPr lang="en-IN" err="1"/>
          </a:p>
          <a:p>
            <a:endParaRPr lang="en-US" sz="2200" b="1" u="sng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7D9C17D-B3BD-967C-765B-880331D7D3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4370" y="778633"/>
            <a:ext cx="9507416" cy="3460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40651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24079E-37F0-8C33-B861-0D4B145A95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C35E621-389F-D222-5C6A-517A8DD10F00}"/>
              </a:ext>
            </a:extLst>
          </p:cNvPr>
          <p:cNvSpPr txBox="1"/>
          <p:nvPr/>
        </p:nvSpPr>
        <p:spPr>
          <a:xfrm>
            <a:off x="187860" y="245384"/>
            <a:ext cx="609750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u="sng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Bi Variant Analysis:</a:t>
            </a:r>
            <a:endParaRPr lang="en-US" sz="28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492AA9B-F914-492C-4595-0342D91A6AE2}"/>
              </a:ext>
            </a:extLst>
          </p:cNvPr>
          <p:cNvSpPr txBox="1"/>
          <p:nvPr/>
        </p:nvSpPr>
        <p:spPr>
          <a:xfrm>
            <a:off x="476872" y="3858984"/>
            <a:ext cx="11216044" cy="255454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000" b="1" u="sng"/>
              <a:t>Insight:</a:t>
            </a:r>
          </a:p>
          <a:p>
            <a:endParaRPr lang="en-US" sz="2000" b="1" u="sng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sz="2000" b="1">
                <a:ea typeface="+mn-lt"/>
                <a:cs typeface="+mn-lt"/>
              </a:rPr>
              <a:t>Top Performers:</a:t>
            </a:r>
            <a:r>
              <a:rPr lang="en-US" sz="2000">
                <a:ea typeface="+mn-lt"/>
                <a:cs typeface="+mn-lt"/>
              </a:rPr>
              <a:t> </a:t>
            </a:r>
            <a:r>
              <a:rPr lang="en-US" sz="2000" b="1">
                <a:ea typeface="+mn-lt"/>
                <a:cs typeface="+mn-lt"/>
              </a:rPr>
              <a:t>Julie Hagerty, Peter Graves, and Robert Hays</a:t>
            </a:r>
            <a:r>
              <a:rPr lang="en-US" sz="2000">
                <a:ea typeface="+mn-lt"/>
                <a:cs typeface="+mn-lt"/>
              </a:rPr>
              <a:t> hold the highest average critic scores (~97%).</a:t>
            </a:r>
            <a:endParaRPr lang="en-US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sz="2000" b="1">
                <a:ea typeface="+mn-lt"/>
                <a:cs typeface="+mn-lt"/>
              </a:rPr>
              <a:t>Consistent Quality:</a:t>
            </a:r>
            <a:r>
              <a:rPr lang="en-US" sz="2000">
                <a:ea typeface="+mn-lt"/>
                <a:cs typeface="+mn-lt"/>
              </a:rPr>
              <a:t> Major leads like </a:t>
            </a:r>
            <a:r>
              <a:rPr lang="en-US" sz="2000" b="1">
                <a:ea typeface="+mn-lt"/>
                <a:cs typeface="+mn-lt"/>
              </a:rPr>
              <a:t>Ben Affleck and Matt Damon</a:t>
            </a:r>
            <a:r>
              <a:rPr lang="en-US" sz="2000">
                <a:ea typeface="+mn-lt"/>
                <a:cs typeface="+mn-lt"/>
              </a:rPr>
              <a:t> average above 90% across their catalog in this dataset.</a:t>
            </a:r>
            <a:endParaRPr lang="en-US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sz="2000" b="1">
                <a:ea typeface="+mn-lt"/>
                <a:cs typeface="+mn-lt"/>
              </a:rPr>
              <a:t>High Baseline:</a:t>
            </a:r>
            <a:r>
              <a:rPr lang="en-US" sz="2000">
                <a:ea typeface="+mn-lt"/>
                <a:cs typeface="+mn-lt"/>
              </a:rPr>
              <a:t> All top-ranked actors with at least 3 titles maintain average critic ratings above </a:t>
            </a:r>
            <a:r>
              <a:rPr lang="en-US" sz="2000" b="1">
                <a:ea typeface="+mn-lt"/>
                <a:cs typeface="+mn-lt"/>
              </a:rPr>
              <a:t>80%</a:t>
            </a:r>
            <a:r>
              <a:rPr lang="en-US" sz="2000">
                <a:ea typeface="+mn-lt"/>
                <a:cs typeface="+mn-lt"/>
              </a:rPr>
              <a:t>.</a:t>
            </a:r>
            <a:endParaRPr lang="en-US">
              <a:ea typeface="+mn-lt"/>
              <a:cs typeface="+mn-lt"/>
            </a:endParaRPr>
          </a:p>
          <a:p>
            <a:endParaRPr lang="en-US" sz="2000" b="1" u="sng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85A5C867-EBA6-6C37-77D5-A4DBD2F519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4106" y="6397808"/>
            <a:ext cx="2689736" cy="441117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3238703E-6C4F-DE2B-D505-FB9185D20E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12415" y="774455"/>
            <a:ext cx="6967171" cy="3386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64798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76403C-B45E-41C2-2CA8-5E51B3810C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660992B-CAD6-8545-FD72-B1E2EB553E2D}"/>
              </a:ext>
            </a:extLst>
          </p:cNvPr>
          <p:cNvSpPr txBox="1"/>
          <p:nvPr/>
        </p:nvSpPr>
        <p:spPr>
          <a:xfrm>
            <a:off x="187860" y="245384"/>
            <a:ext cx="6097508" cy="5232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800" b="1" u="sng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MULTI VARIANT ANALYSIS:</a:t>
            </a:r>
            <a:endParaRPr lang="en-US" sz="2800">
              <a:latin typeface="Calibri"/>
              <a:ea typeface="Calibri"/>
              <a:cs typeface="Calibri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7C937037-7FC8-1FFF-933B-D34ED9BE4E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4106" y="6397808"/>
            <a:ext cx="2689736" cy="44111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EF80338-2A27-B1B6-C7CF-140BDC4E597A}"/>
              </a:ext>
            </a:extLst>
          </p:cNvPr>
          <p:cNvSpPr txBox="1"/>
          <p:nvPr/>
        </p:nvSpPr>
        <p:spPr>
          <a:xfrm>
            <a:off x="7068227" y="1082320"/>
            <a:ext cx="4699818" cy="470898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000" b="1" u="sng"/>
              <a:t>Insight:</a:t>
            </a:r>
          </a:p>
          <a:p>
            <a:pPr marL="285750" indent="-285750">
              <a:buFont typeface="Arial"/>
              <a:buChar char="•"/>
            </a:pPr>
            <a:r>
              <a:rPr lang="en-IN" sz="2000" b="1">
                <a:ea typeface="+mn-lt"/>
                <a:cs typeface="+mn-lt"/>
              </a:rPr>
              <a:t>Strong Negative Relationship (-0.66):</a:t>
            </a:r>
            <a:r>
              <a:rPr lang="en-IN" sz="2000">
                <a:ea typeface="+mn-lt"/>
                <a:cs typeface="+mn-lt"/>
              </a:rPr>
              <a:t> </a:t>
            </a:r>
            <a:r>
              <a:rPr lang="en-IN" sz="2000" b="1">
                <a:ea typeface="+mn-lt"/>
                <a:cs typeface="+mn-lt"/>
              </a:rPr>
              <a:t>Title Length</a:t>
            </a:r>
            <a:r>
              <a:rPr lang="en-IN" sz="2000">
                <a:ea typeface="+mn-lt"/>
                <a:cs typeface="+mn-lt"/>
              </a:rPr>
              <a:t> and </a:t>
            </a:r>
            <a:r>
              <a:rPr lang="en-IN" sz="2000" b="1">
                <a:ea typeface="+mn-lt"/>
                <a:cs typeface="+mn-lt"/>
              </a:rPr>
              <a:t>Cast Count</a:t>
            </a:r>
            <a:r>
              <a:rPr lang="en-IN" sz="2000">
                <a:ea typeface="+mn-lt"/>
                <a:cs typeface="+mn-lt"/>
              </a:rPr>
              <a:t> show a noticeable inverse trend—movies with longer titles tend to list fewer main cast members.</a:t>
            </a:r>
            <a:endParaRPr lang="en-IN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IN" sz="2000" b="1">
                <a:ea typeface="+mn-lt"/>
                <a:cs typeface="+mn-lt"/>
              </a:rPr>
              <a:t>No Score Correlation:</a:t>
            </a:r>
            <a:r>
              <a:rPr lang="en-IN" sz="2000">
                <a:ea typeface="+mn-lt"/>
                <a:cs typeface="+mn-lt"/>
              </a:rPr>
              <a:t> </a:t>
            </a:r>
            <a:r>
              <a:rPr lang="en-IN" sz="2000" b="1" err="1">
                <a:ea typeface="+mn-lt"/>
                <a:cs typeface="+mn-lt"/>
              </a:rPr>
              <a:t>Score_Numeric</a:t>
            </a:r>
            <a:r>
              <a:rPr lang="en-IN" sz="2000">
                <a:ea typeface="+mn-lt"/>
                <a:cs typeface="+mn-lt"/>
              </a:rPr>
              <a:t> shows almost zero correlation (0.04 to 0.11) with Year, Decade, or Title Length, meaning ratings are independent of these factors.</a:t>
            </a:r>
            <a:endParaRPr lang="en-IN"/>
          </a:p>
          <a:p>
            <a:pPr marL="285750" indent="-285750">
              <a:buFont typeface="Arial"/>
              <a:buChar char="•"/>
            </a:pPr>
            <a:r>
              <a:rPr lang="en-IN" sz="2000" b="1">
                <a:ea typeface="+mn-lt"/>
                <a:cs typeface="+mn-lt"/>
              </a:rPr>
              <a:t>Expected Strong Baseline (0.9$):</a:t>
            </a:r>
            <a:r>
              <a:rPr lang="en-IN" sz="2000">
                <a:ea typeface="+mn-lt"/>
                <a:cs typeface="+mn-lt"/>
              </a:rPr>
              <a:t> </a:t>
            </a:r>
            <a:r>
              <a:rPr lang="en-IN" sz="2000" b="1">
                <a:ea typeface="+mn-lt"/>
                <a:cs typeface="+mn-lt"/>
              </a:rPr>
              <a:t>Year</a:t>
            </a:r>
            <a:r>
              <a:rPr lang="en-IN" sz="2000">
                <a:ea typeface="+mn-lt"/>
                <a:cs typeface="+mn-lt"/>
              </a:rPr>
              <a:t> and </a:t>
            </a:r>
            <a:r>
              <a:rPr lang="en-IN" sz="2000" b="1">
                <a:ea typeface="+mn-lt"/>
                <a:cs typeface="+mn-lt"/>
              </a:rPr>
              <a:t>Decade</a:t>
            </a:r>
            <a:r>
              <a:rPr lang="en-IN" sz="2000">
                <a:ea typeface="+mn-lt"/>
                <a:cs typeface="+mn-lt"/>
              </a:rPr>
              <a:t> share a near-perfect positive correlation as anticipated.</a:t>
            </a:r>
            <a:endParaRPr lang="en-IN">
              <a:ea typeface="+mn-lt"/>
              <a:cs typeface="+mn-lt"/>
            </a:endParaRPr>
          </a:p>
          <a:p>
            <a:endParaRPr lang="en-IN" sz="2000">
              <a:ea typeface="Calibri"/>
              <a:cs typeface="Calibri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A91863E-55E1-86F0-467A-DB8AB13975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" y="773723"/>
            <a:ext cx="6950972" cy="5837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11665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F7F463-891C-5CE1-80FB-E90D33FCB4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E4BACBEF-A874-E3B0-BFFC-8D3D46C052DD}"/>
              </a:ext>
            </a:extLst>
          </p:cNvPr>
          <p:cNvSpPr txBox="1"/>
          <p:nvPr/>
        </p:nvSpPr>
        <p:spPr>
          <a:xfrm>
            <a:off x="112857" y="120818"/>
            <a:ext cx="7094226" cy="5232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800" b="1" u="sng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CHI – SQUARE STATISTICS:</a:t>
            </a:r>
            <a:endParaRPr lang="en-US" sz="2800">
              <a:latin typeface="Calibri"/>
              <a:ea typeface="Calibri"/>
              <a:cs typeface="Calibri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88A04EB-AFA9-ACF0-988E-CE76496BBD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07072" y="6189720"/>
            <a:ext cx="2689736" cy="44111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95EAE57-D41A-674C-C4A4-A9A0A4535268}"/>
              </a:ext>
            </a:extLst>
          </p:cNvPr>
          <p:cNvSpPr txBox="1"/>
          <p:nvPr/>
        </p:nvSpPr>
        <p:spPr>
          <a:xfrm>
            <a:off x="394210" y="4212485"/>
            <a:ext cx="11418490" cy="317009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IN" sz="2000" b="1">
                <a:ea typeface="+mn-lt"/>
                <a:cs typeface="+mn-lt"/>
              </a:rPr>
              <a:t>Variables Tested:</a:t>
            </a:r>
            <a:r>
              <a:rPr lang="en-IN" sz="2000">
                <a:ea typeface="+mn-lt"/>
                <a:cs typeface="+mn-lt"/>
              </a:rPr>
              <a:t> The Chi-Square test evaluates whether there is a relationship between </a:t>
            </a:r>
            <a:r>
              <a:rPr lang="en-IN" sz="2000" b="1">
                <a:ea typeface="+mn-lt"/>
                <a:cs typeface="+mn-lt"/>
              </a:rPr>
              <a:t>Decade</a:t>
            </a:r>
            <a:r>
              <a:rPr lang="en-IN" sz="2000">
                <a:ea typeface="+mn-lt"/>
                <a:cs typeface="+mn-lt"/>
              </a:rPr>
              <a:t> (release era) and </a:t>
            </a:r>
            <a:r>
              <a:rPr lang="en-IN" sz="2000" b="1">
                <a:ea typeface="+mn-lt"/>
                <a:cs typeface="+mn-lt"/>
              </a:rPr>
              <a:t>Score Category</a:t>
            </a:r>
            <a:r>
              <a:rPr lang="en-IN" sz="2000">
                <a:ea typeface="+mn-lt"/>
                <a:cs typeface="+mn-lt"/>
              </a:rPr>
              <a:t> (e.g., Hit vs. Below Average).</a:t>
            </a:r>
            <a:endParaRPr lang="en-IN"/>
          </a:p>
          <a:p>
            <a:pPr marL="285750" indent="-285750">
              <a:buFont typeface="Arial"/>
              <a:buChar char="•"/>
            </a:pPr>
            <a:r>
              <a:rPr lang="en-IN" sz="2000" b="1">
                <a:ea typeface="+mn-lt"/>
                <a:cs typeface="+mn-lt"/>
              </a:rPr>
              <a:t>Null Hypothesis (H0):</a:t>
            </a:r>
            <a:r>
              <a:rPr lang="en-IN" sz="2000">
                <a:ea typeface="+mn-lt"/>
                <a:cs typeface="+mn-lt"/>
              </a:rPr>
              <a:t> Decade and Score Category are independent (there is no association between when a movie was released and its rating category).</a:t>
            </a:r>
            <a:endParaRPr lang="en-IN"/>
          </a:p>
          <a:p>
            <a:pPr marL="285750" indent="-285750">
              <a:buFont typeface="Arial"/>
              <a:buChar char="•"/>
            </a:pPr>
            <a:r>
              <a:rPr lang="en-IN" sz="2000" b="1">
                <a:ea typeface="+mn-lt"/>
                <a:cs typeface="+mn-lt"/>
              </a:rPr>
              <a:t>Test Results:</a:t>
            </a:r>
            <a:endParaRPr lang="en-IN"/>
          </a:p>
          <a:p>
            <a:pPr lvl="1"/>
            <a:r>
              <a:rPr lang="en-IN" sz="2000" b="1" dirty="0">
                <a:ea typeface="+mn-lt"/>
                <a:cs typeface="+mn-lt"/>
              </a:rPr>
              <a:t>Chi-Square Statistic:</a:t>
            </a:r>
            <a:r>
              <a:rPr lang="en-IN" sz="2000">
                <a:ea typeface="+mn-lt"/>
                <a:cs typeface="+mn-lt"/>
              </a:rPr>
              <a:t> 5.33333333</a:t>
            </a:r>
            <a:endParaRPr lang="en-IN">
              <a:ea typeface="Calibri" panose="020F0502020204030204"/>
              <a:cs typeface="Calibri" panose="020F0502020204030204"/>
            </a:endParaRPr>
          </a:p>
          <a:p>
            <a:pPr lvl="1"/>
            <a:r>
              <a:rPr lang="en-IN" sz="2000" b="1">
                <a:ea typeface="+mn-lt"/>
                <a:cs typeface="+mn-lt"/>
              </a:rPr>
              <a:t>Degrees of Freedom:</a:t>
            </a:r>
            <a:r>
              <a:rPr lang="en-IN" sz="2000">
                <a:ea typeface="+mn-lt"/>
                <a:cs typeface="+mn-lt"/>
              </a:rPr>
              <a:t> 4</a:t>
            </a:r>
            <a:endParaRPr lang="en-IN">
              <a:ea typeface="+mn-lt"/>
              <a:cs typeface="+mn-lt"/>
            </a:endParaRPr>
          </a:p>
          <a:p>
            <a:pPr lvl="1"/>
            <a:r>
              <a:rPr lang="en-IN" sz="2000" b="1">
                <a:ea typeface="+mn-lt"/>
                <a:cs typeface="+mn-lt"/>
              </a:rPr>
              <a:t>P-value: </a:t>
            </a:r>
            <a:r>
              <a:rPr lang="en-IN" sz="2000">
                <a:ea typeface="+mn-lt"/>
                <a:cs typeface="+mn-lt"/>
              </a:rPr>
              <a:t>0.254778</a:t>
            </a:r>
          </a:p>
          <a:p>
            <a:pPr lvl="1"/>
            <a:endParaRPr lang="en-IN" sz="2000">
              <a:ea typeface="Calibri"/>
              <a:cs typeface="Calibri"/>
            </a:endParaRPr>
          </a:p>
          <a:p>
            <a:endParaRPr lang="en-IN" sz="2000">
              <a:ea typeface="Calibri"/>
              <a:cs typeface="Calibri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DB3AF3D-08F3-AC13-B6FD-883DA3A771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8024" y="529736"/>
            <a:ext cx="8055952" cy="3547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71096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FC27ED-9091-637B-6B22-B82365847F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A0269130-E585-A363-3B51-4283189D9631}"/>
              </a:ext>
            </a:extLst>
          </p:cNvPr>
          <p:cNvSpPr txBox="1"/>
          <p:nvPr/>
        </p:nvSpPr>
        <p:spPr>
          <a:xfrm>
            <a:off x="487995" y="519403"/>
            <a:ext cx="3764873" cy="5232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800" b="1" u="sng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ONE - WAY ANOVA:</a:t>
            </a:r>
            <a:endParaRPr lang="en-US" sz="2800">
              <a:latin typeface="Calibri"/>
              <a:ea typeface="Calibri"/>
              <a:cs typeface="Calibri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E354045-2555-F012-23FA-02066E039A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07072" y="6189720"/>
            <a:ext cx="2689736" cy="44111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68FAF29-6186-8BEE-E04B-71DA83EDD209}"/>
              </a:ext>
            </a:extLst>
          </p:cNvPr>
          <p:cNvSpPr txBox="1"/>
          <p:nvPr/>
        </p:nvSpPr>
        <p:spPr>
          <a:xfrm>
            <a:off x="293836" y="4360637"/>
            <a:ext cx="11251503" cy="212365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IN" sz="2200" b="1">
                <a:ea typeface="+mn-lt"/>
                <a:cs typeface="+mn-lt"/>
              </a:rPr>
              <a:t>Test Performed:</a:t>
            </a:r>
            <a:r>
              <a:rPr lang="en-IN" sz="2200">
                <a:ea typeface="+mn-lt"/>
                <a:cs typeface="+mn-lt"/>
              </a:rPr>
              <a:t> </a:t>
            </a:r>
            <a:r>
              <a:rPr lang="en-IN" sz="2200" b="1">
                <a:ea typeface="+mn-lt"/>
                <a:cs typeface="+mn-lt"/>
              </a:rPr>
              <a:t>One-way ANOVA</a:t>
            </a:r>
            <a:r>
              <a:rPr lang="en-IN" sz="2200">
                <a:ea typeface="+mn-lt"/>
                <a:cs typeface="+mn-lt"/>
              </a:rPr>
              <a:t> (</a:t>
            </a:r>
            <a:r>
              <a:rPr lang="en-IN" sz="2200" err="1">
                <a:latin typeface="Consolas"/>
              </a:rPr>
              <a:t>f_oneway</a:t>
            </a:r>
            <a:r>
              <a:rPr lang="en-IN" sz="2200">
                <a:ea typeface="+mn-lt"/>
                <a:cs typeface="+mn-lt"/>
              </a:rPr>
              <a:t>) to test if there are statistically significant differences in movie scores across multiple groups.</a:t>
            </a:r>
            <a:endParaRPr lang="en-US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IN" sz="2200" b="1">
                <a:ea typeface="+mn-lt"/>
                <a:cs typeface="+mn-lt"/>
              </a:rPr>
              <a:t>Key Output Values:</a:t>
            </a:r>
            <a:endParaRPr lang="en-IN"/>
          </a:p>
          <a:p>
            <a:pPr marL="285750" indent="-285750">
              <a:buFont typeface="Arial"/>
              <a:buChar char="•"/>
            </a:pPr>
            <a:r>
              <a:rPr lang="en-IN" sz="2200" b="1">
                <a:ea typeface="+mn-lt"/>
                <a:cs typeface="+mn-lt"/>
              </a:rPr>
              <a:t>F-statistic:</a:t>
            </a:r>
            <a:r>
              <a:rPr lang="en-IN" sz="2200">
                <a:ea typeface="+mn-lt"/>
                <a:cs typeface="+mn-lt"/>
              </a:rPr>
              <a:t> 2.5790</a:t>
            </a:r>
            <a:endParaRPr lang="en-IN"/>
          </a:p>
          <a:p>
            <a:pPr marL="285750" indent="-285750">
              <a:buFont typeface="Arial"/>
              <a:buChar char="•"/>
            </a:pPr>
            <a:r>
              <a:rPr lang="en-IN" sz="2200" b="1">
                <a:ea typeface="+mn-lt"/>
                <a:cs typeface="+mn-lt"/>
              </a:rPr>
              <a:t>P-value:</a:t>
            </a:r>
            <a:r>
              <a:rPr lang="en-IN" sz="2200">
                <a:ea typeface="+mn-lt"/>
                <a:cs typeface="+mn-lt"/>
              </a:rPr>
              <a:t> </a:t>
            </a:r>
            <a:r>
              <a:rPr lang="en-IN" sz="2200" b="1">
                <a:ea typeface="+mn-lt"/>
                <a:cs typeface="+mn-lt"/>
              </a:rPr>
              <a:t>0.2230</a:t>
            </a:r>
            <a:r>
              <a:rPr lang="en-IN" sz="2200">
                <a:ea typeface="+mn-lt"/>
                <a:cs typeface="+mn-lt"/>
              </a:rPr>
              <a:t> (written in scientific notation as </a:t>
            </a:r>
            <a:r>
              <a:rPr lang="en-IN" sz="2200">
                <a:latin typeface="Consolas"/>
              </a:rPr>
              <a:t>2.2300e-01</a:t>
            </a:r>
            <a:r>
              <a:rPr lang="en-IN" sz="2200">
                <a:ea typeface="+mn-lt"/>
                <a:cs typeface="+mn-lt"/>
              </a:rPr>
              <a:t>)</a:t>
            </a:r>
            <a:endParaRPr lang="en-IN"/>
          </a:p>
          <a:p>
            <a:endParaRPr lang="en-IN" sz="2200">
              <a:ea typeface="Calibri"/>
              <a:cs typeface="Calibri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2AE0EEF-3437-1DCD-8E61-624A022FD5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3950" y="1204179"/>
            <a:ext cx="9944100" cy="2714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39167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775A574-8A6B-0D40-A7C8-5B1C4033A2A9}"/>
              </a:ext>
            </a:extLst>
          </p:cNvPr>
          <p:cNvSpPr txBox="1"/>
          <p:nvPr/>
        </p:nvSpPr>
        <p:spPr>
          <a:xfrm>
            <a:off x="741872" y="1419097"/>
            <a:ext cx="9670489" cy="539038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342900" indent="-342900">
              <a:buFont typeface="Wingdings" panose="020B0604020202020204" pitchFamily="34" charset="0"/>
              <a:buChar char="q"/>
            </a:pPr>
            <a:r>
              <a:rPr lang="en-US" sz="2400">
                <a:latin typeface="Calibri Light"/>
                <a:ea typeface="Calibri Light"/>
                <a:cs typeface="Calibri Light"/>
              </a:rPr>
              <a:t>Most scraped titles come from mixed search results rather than a dedicated movies listing, so roughly 50–60% of records are missing a Critics Score, Cast, or Year.</a:t>
            </a:r>
            <a:endParaRPr lang="en-US">
              <a:latin typeface="Calibri Light"/>
              <a:ea typeface="Calibri Light"/>
              <a:cs typeface="Calibri Light"/>
            </a:endParaRPr>
          </a:p>
          <a:p>
            <a:pPr marL="342900" indent="-342900">
              <a:buFont typeface="Wingdings" panose="020B0604020202020204" pitchFamily="34" charset="0"/>
              <a:buChar char="q"/>
            </a:pPr>
            <a:r>
              <a:rPr lang="en-US" sz="2400">
                <a:latin typeface="Calibri Light"/>
                <a:ea typeface="Calibri Light"/>
                <a:cs typeface="Calibri Light"/>
              </a:rPr>
              <a:t>As release decade increases, the proportion of highly-rated ("HIT") titles does not show a statistically reliable trend — the real, non-imputed data (n=8) was too small to confirm any pattern.</a:t>
            </a:r>
            <a:endParaRPr lang="en-US">
              <a:latin typeface="Calibri Light"/>
              <a:ea typeface="Calibri Light"/>
              <a:cs typeface="Calibri Light"/>
            </a:endParaRPr>
          </a:p>
          <a:p>
            <a:pPr marL="342900" indent="-342900">
              <a:buFont typeface="Wingdings" panose="020B0604020202020204" pitchFamily="34" charset="0"/>
              <a:buChar char="q"/>
            </a:pPr>
            <a:r>
              <a:rPr lang="en-US" sz="2400">
                <a:latin typeface="Calibri Light"/>
                <a:ea typeface="Calibri Light"/>
                <a:cs typeface="Calibri Light"/>
              </a:rPr>
              <a:t>Filling missing scores with the median made results look highly significant (ANOVA F=6944, Chi-square χ²=1083, p≈0 for both), but this was a false signal — testing the real data alone dropped both results to non-significant.</a:t>
            </a:r>
            <a:endParaRPr lang="en-US">
              <a:latin typeface="Calibri Light"/>
              <a:ea typeface="Calibri Light"/>
              <a:cs typeface="Calibri Light"/>
            </a:endParaRPr>
          </a:p>
          <a:p>
            <a:pPr marL="342900" indent="-342900">
              <a:buFont typeface="Wingdings" panose="020B0604020202020204" pitchFamily="34" charset="0"/>
              <a:buChar char="q"/>
            </a:pPr>
            <a:r>
              <a:rPr lang="en-US" sz="2400">
                <a:latin typeface="Calibri Light"/>
                <a:ea typeface="Calibri Light"/>
                <a:cs typeface="Calibri Light"/>
              </a:rPr>
              <a:t>Even after correcting the data, critic scores don't show a clear pattern by decade — reception looks broadly similar across eras rather than trending up or down over time.</a:t>
            </a:r>
            <a:endParaRPr lang="en-US">
              <a:latin typeface="Calibri Light"/>
              <a:ea typeface="Calibri Light"/>
              <a:cs typeface="Calibri Light"/>
            </a:endParaRPr>
          </a:p>
          <a:p>
            <a:pPr marL="342900" indent="-342900">
              <a:lnSpc>
                <a:spcPct val="150000"/>
              </a:lnSpc>
              <a:buFont typeface="Wingdings"/>
              <a:buChar char="q"/>
            </a:pPr>
            <a:endParaRPr lang="en-US" sz="2400" b="1">
              <a:latin typeface="Calibri Light"/>
              <a:ea typeface="Calibri Light"/>
              <a:cs typeface="Calibri Ligh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C1D9D7C-71ED-DE1C-2137-00ABEE9CAD63}"/>
              </a:ext>
            </a:extLst>
          </p:cNvPr>
          <p:cNvSpPr txBox="1"/>
          <p:nvPr/>
        </p:nvSpPr>
        <p:spPr>
          <a:xfrm>
            <a:off x="487995" y="519403"/>
            <a:ext cx="376487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u="sng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Insights:</a:t>
            </a:r>
            <a:endParaRPr lang="en-US" sz="28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143B361-8806-6B05-A932-EDC514EAD6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07072" y="6189720"/>
            <a:ext cx="2689736" cy="441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13246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6FECD3-C972-39EA-B452-8C47771D59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u="sng">
                <a:solidFill>
                  <a:srgbClr val="FF0000"/>
                </a:solidFill>
                <a:latin typeface="+mn-lt"/>
              </a:rPr>
              <a:t>Conclusion</a:t>
            </a:r>
            <a:r>
              <a:rPr lang="en-US" sz="2800" b="1" u="sng">
                <a:solidFill>
                  <a:srgbClr val="FF0000"/>
                </a:solidFill>
              </a:rPr>
              <a:t>:</a:t>
            </a:r>
            <a:endParaRPr lang="en-IN" sz="2800" b="1" u="sng">
              <a:solidFill>
                <a:srgbClr val="FF000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B2DF5A-24D5-0448-FBA6-A6BC44CE27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9693" y="1436841"/>
            <a:ext cx="10650415" cy="4351338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IN" sz="2600">
                <a:latin typeface="Calibri Light"/>
                <a:ea typeface="Calibri Light"/>
                <a:cs typeface="Calibri Light"/>
              </a:rPr>
              <a:t>The project successfully gathered movie data from Rotten Tomatoes using Python and Selenium.</a:t>
            </a:r>
            <a:endParaRPr lang="en-US" sz="2600">
              <a:latin typeface="Calibri Light"/>
              <a:ea typeface="Calibri Light"/>
              <a:cs typeface="Calibri Light"/>
            </a:endParaRP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IN" sz="2600">
                <a:latin typeface="Calibri Light"/>
                <a:ea typeface="Calibri Light"/>
                <a:cs typeface="Calibri Light"/>
              </a:rPr>
              <a:t>Critics scores, release years, cast sizes, and title lengths play a major role in describing movie trends.</a:t>
            </a:r>
            <a:endParaRPr lang="en-US" sz="2600">
              <a:latin typeface="Calibri Light"/>
              <a:ea typeface="Calibri Light"/>
              <a:cs typeface="Calibri Light"/>
            </a:endParaRP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IN" sz="2600">
                <a:latin typeface="Calibri Light"/>
                <a:ea typeface="Calibri Light"/>
                <a:cs typeface="Calibri Light"/>
              </a:rPr>
              <a:t>Cleaning and processing the raw data identified significant missingness from mixed search results.</a:t>
            </a:r>
            <a:endParaRPr lang="en-US" sz="2600">
              <a:latin typeface="Calibri Light"/>
              <a:ea typeface="Calibri Light"/>
              <a:cs typeface="Calibri Light"/>
            </a:endParaRP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IN" sz="2600">
                <a:latin typeface="Calibri Light"/>
                <a:ea typeface="Calibri Light"/>
                <a:cs typeface="Calibri Light"/>
              </a:rPr>
              <a:t>The findings clearly show how median imputation can introduce false statistical significance in movie dataset analysis.</a:t>
            </a:r>
            <a:endParaRPr lang="en-US" sz="2600">
              <a:latin typeface="Calibri Light"/>
              <a:ea typeface="Calibri Light"/>
              <a:cs typeface="Calibri Light"/>
            </a:endParaRP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IN" sz="2600">
                <a:latin typeface="Calibri Light"/>
                <a:ea typeface="Calibri Light"/>
                <a:cs typeface="Calibri Light"/>
              </a:rPr>
              <a:t>This project provides useful insights to improve web scraping strategies and handle missing movie data effectively.</a:t>
            </a:r>
          </a:p>
          <a:p>
            <a:pPr marL="342900" lv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20B0604020202020204" pitchFamily="34" charset="0"/>
              <a:buChar char="q"/>
            </a:pPr>
            <a:endParaRPr lang="en-IN" sz="2600">
              <a:latin typeface="Calibri Light"/>
              <a:ea typeface="Calibri Light"/>
              <a:cs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27486243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131A50-31CC-EDFF-BF21-E0FABDAB3C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583425"/>
            <a:ext cx="10515600" cy="845575"/>
          </a:xfrm>
        </p:spPr>
        <p:txBody>
          <a:bodyPr>
            <a:normAutofit/>
          </a:bodyPr>
          <a:lstStyle/>
          <a:p>
            <a:pPr marL="114300" indent="0" algn="ctr">
              <a:buNone/>
            </a:pPr>
            <a:r>
              <a:rPr lang="en-IN" sz="4400" b="1" i="1">
                <a:solidFill>
                  <a:srgbClr val="FF0000"/>
                </a:solidFill>
              </a:rPr>
              <a:t>Q &amp; A</a:t>
            </a:r>
            <a:endParaRPr lang="en-IN" sz="4400" i="1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11219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66516" y="1850749"/>
            <a:ext cx="4465643" cy="2834317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5"/>
          <p:cNvSpPr txBox="1"/>
          <p:nvPr/>
        </p:nvSpPr>
        <p:spPr>
          <a:xfrm>
            <a:off x="1244600" y="2997200"/>
            <a:ext cx="3661836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Libre Baskerville"/>
              <a:buNone/>
            </a:pPr>
            <a:r>
              <a:rPr lang="en-IN" sz="4400" b="1" i="1" u="none" strike="noStrike" cap="none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Libre Baskerville"/>
              </a:rPr>
              <a:t>THANK YOU</a:t>
            </a:r>
            <a:endParaRPr sz="1800" b="1" i="1" u="none" strike="noStrike" cap="none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20</Slides>
  <Notes>6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Conclusion: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Gorantla Shreya</dc:creator>
  <cp:revision>18</cp:revision>
  <dcterms:created xsi:type="dcterms:W3CDTF">2026-07-30T16:53:45Z</dcterms:created>
  <dcterms:modified xsi:type="dcterms:W3CDTF">2026-08-01T04:43:15Z</dcterms:modified>
</cp:coreProperties>
</file>